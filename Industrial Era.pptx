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Candal" panose="020B0604020202020204" charset="0"/>
      <p:regular r:id="rId18"/>
    </p:embeddedFont>
    <p:embeddedFont>
      <p:font typeface="Canva Sans" panose="020B0604020202020204" charset="0"/>
      <p:regular r:id="rId19"/>
    </p:embeddedFont>
    <p:embeddedFont>
      <p:font typeface="Canva Sans Bold" panose="020B0604020202020204" charset="0"/>
      <p:regular r:id="rId20"/>
    </p:embeddedFont>
    <p:embeddedFont>
      <p:font typeface="Proxima Nova" panose="020B0604020202020204" charset="0"/>
      <p:regular r:id="rId21"/>
    </p:embeddedFont>
    <p:embeddedFont>
      <p:font typeface="Proxima Nova Bold Italics"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8" d="100"/>
          <a:sy n="58" d="100"/>
        </p:scale>
        <p:origin x="51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tsal makwana" userId="1ddf7d2456ca84dc" providerId="LiveId" clId="{4CE400FE-1D48-43E1-8D2B-B8127D47426D}"/>
    <pc:docChg chg="undo custSel modSld">
      <pc:chgData name="vatsal makwana" userId="1ddf7d2456ca84dc" providerId="LiveId" clId="{4CE400FE-1D48-43E1-8D2B-B8127D47426D}" dt="2026-03-25T08:12:39.386" v="50" actId="20577"/>
      <pc:docMkLst>
        <pc:docMk/>
      </pc:docMkLst>
      <pc:sldChg chg="modSp mod">
        <pc:chgData name="vatsal makwana" userId="1ddf7d2456ca84dc" providerId="LiveId" clId="{4CE400FE-1D48-43E1-8D2B-B8127D47426D}" dt="2026-03-25T08:05:27.186" v="37"/>
        <pc:sldMkLst>
          <pc:docMk/>
          <pc:sldMk cId="0" sldId="256"/>
        </pc:sldMkLst>
        <pc:spChg chg="mod">
          <ac:chgData name="vatsal makwana" userId="1ddf7d2456ca84dc" providerId="LiveId" clId="{4CE400FE-1D48-43E1-8D2B-B8127D47426D}" dt="2026-03-25T08:05:27.186" v="37"/>
          <ac:spMkLst>
            <pc:docMk/>
            <pc:sldMk cId="0" sldId="256"/>
            <ac:spMk id="6" creationId="{00000000-0000-0000-0000-000000000000}"/>
          </ac:spMkLst>
        </pc:spChg>
      </pc:sldChg>
      <pc:sldChg chg="modSp mod">
        <pc:chgData name="vatsal makwana" userId="1ddf7d2456ca84dc" providerId="LiveId" clId="{4CE400FE-1D48-43E1-8D2B-B8127D47426D}" dt="2026-03-25T08:12:39.386" v="50" actId="20577"/>
        <pc:sldMkLst>
          <pc:docMk/>
          <pc:sldMk cId="0" sldId="265"/>
        </pc:sldMkLst>
        <pc:spChg chg="mod">
          <ac:chgData name="vatsal makwana" userId="1ddf7d2456ca84dc" providerId="LiveId" clId="{4CE400FE-1D48-43E1-8D2B-B8127D47426D}" dt="2026-03-25T08:12:39.386" v="50" actId="20577"/>
          <ac:spMkLst>
            <pc:docMk/>
            <pc:sldMk cId="0" sldId="265"/>
            <ac:spMk id="9" creationId="{00000000-0000-0000-0000-000000000000}"/>
          </ac:spMkLst>
        </pc:spChg>
      </pc:sldChg>
      <pc:sldChg chg="modSp mod">
        <pc:chgData name="vatsal makwana" userId="1ddf7d2456ca84dc" providerId="LiveId" clId="{4CE400FE-1D48-43E1-8D2B-B8127D47426D}" dt="2026-03-25T08:04:21.364" v="33" actId="20577"/>
        <pc:sldMkLst>
          <pc:docMk/>
          <pc:sldMk cId="0" sldId="267"/>
        </pc:sldMkLst>
        <pc:spChg chg="mod">
          <ac:chgData name="vatsal makwana" userId="1ddf7d2456ca84dc" providerId="LiveId" clId="{4CE400FE-1D48-43E1-8D2B-B8127D47426D}" dt="2026-03-25T08:04:21.364" v="33" actId="20577"/>
          <ac:spMkLst>
            <pc:docMk/>
            <pc:sldMk cId="0" sldId="267"/>
            <ac:spMk id="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svg"/><Relationship Id="rId10" Type="http://schemas.openxmlformats.org/officeDocument/2006/relationships/image" Target="../media/image15.jpeg"/><Relationship Id="rId4" Type="http://schemas.openxmlformats.org/officeDocument/2006/relationships/image" Target="../media/image9.png"/><Relationship Id="rId9" Type="http://schemas.openxmlformats.org/officeDocument/2006/relationships/image" Target="../media/image14.sv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7.svg"/><Relationship Id="rId5" Type="http://schemas.openxmlformats.org/officeDocument/2006/relationships/image" Target="../media/image10.svg"/><Relationship Id="rId10"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image" Target="../media/image14.sv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21.jpeg"/><Relationship Id="rId3" Type="http://schemas.openxmlformats.org/officeDocument/2006/relationships/image" Target="../media/image8.svg"/><Relationship Id="rId7" Type="http://schemas.openxmlformats.org/officeDocument/2006/relationships/image" Target="../media/image12.svg"/><Relationship Id="rId12" Type="http://schemas.openxmlformats.org/officeDocument/2006/relationships/image" Target="../media/image20.jpe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9.jpeg"/><Relationship Id="rId5" Type="http://schemas.openxmlformats.org/officeDocument/2006/relationships/image" Target="../media/image10.svg"/><Relationship Id="rId10" Type="http://schemas.openxmlformats.org/officeDocument/2006/relationships/image" Target="../media/image18.jpeg"/><Relationship Id="rId4" Type="http://schemas.openxmlformats.org/officeDocument/2006/relationships/image" Target="../media/image9.pn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svg"/><Relationship Id="rId7" Type="http://schemas.openxmlformats.org/officeDocument/2006/relationships/image" Target="../media/image10.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10"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sv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svg"/><Relationship Id="rId7" Type="http://schemas.openxmlformats.org/officeDocument/2006/relationships/image" Target="../media/image10.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svg"/><Relationship Id="rId7" Type="http://schemas.openxmlformats.org/officeDocument/2006/relationships/image" Target="../media/image10.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10" Type="http://schemas.openxmlformats.org/officeDocument/2006/relationships/image" Target="../media/image23.jpeg"/><Relationship Id="rId4" Type="http://schemas.openxmlformats.org/officeDocument/2006/relationships/image" Target="../media/image7.png"/><Relationship Id="rId9" Type="http://schemas.openxmlformats.org/officeDocument/2006/relationships/image" Target="../media/image12.sv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svg"/><Relationship Id="rId7" Type="http://schemas.openxmlformats.org/officeDocument/2006/relationships/image" Target="../media/image10.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svg"/><Relationship Id="rId7" Type="http://schemas.openxmlformats.org/officeDocument/2006/relationships/image" Target="../media/image10.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svg"/><Relationship Id="rId7" Type="http://schemas.openxmlformats.org/officeDocument/2006/relationships/image" Target="../media/image10.svg"/><Relationship Id="rId12" Type="http://schemas.openxmlformats.org/officeDocument/2006/relationships/image" Target="../media/image26.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25.png"/><Relationship Id="rId5" Type="http://schemas.openxmlformats.org/officeDocument/2006/relationships/image" Target="../media/image8.svg"/><Relationship Id="rId10" Type="http://schemas.openxmlformats.org/officeDocument/2006/relationships/image" Target="../media/image24.png"/><Relationship Id="rId4" Type="http://schemas.openxmlformats.org/officeDocument/2006/relationships/image" Target="../media/image7.png"/><Relationship Id="rId9" Type="http://schemas.openxmlformats.org/officeDocument/2006/relationships/image" Target="../media/image12.sv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svg"/><Relationship Id="rId7" Type="http://schemas.openxmlformats.org/officeDocument/2006/relationships/image" Target="../media/image10.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svg"/><Relationship Id="rId7" Type="http://schemas.openxmlformats.org/officeDocument/2006/relationships/image" Target="../media/image10.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svg"/><Relationship Id="rId7" Type="http://schemas.openxmlformats.org/officeDocument/2006/relationships/image" Target="../media/image10.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svg"/><Relationship Id="rId7" Type="http://schemas.openxmlformats.org/officeDocument/2006/relationships/image" Target="../media/image10.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10" Type="http://schemas.openxmlformats.org/officeDocument/2006/relationships/image" Target="../media/image27.png"/><Relationship Id="rId4" Type="http://schemas.openxmlformats.org/officeDocument/2006/relationships/image" Target="../media/image7.png"/><Relationship Id="rId9" Type="http://schemas.openxmlformats.org/officeDocument/2006/relationships/image" Target="../media/image12.svg"/></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9.svg"/><Relationship Id="rId7" Type="http://schemas.openxmlformats.org/officeDocument/2006/relationships/image" Target="../media/image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6.svg"/></Relationships>
</file>

<file path=ppt/slides/_rels/slide1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9.svg"/><Relationship Id="rId7" Type="http://schemas.openxmlformats.org/officeDocument/2006/relationships/image" Target="../media/image4.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EFEE"/>
        </a:solidFill>
        <a:effectLst/>
      </p:bgPr>
    </p:bg>
    <p:spTree>
      <p:nvGrpSpPr>
        <p:cNvPr id="1" name=""/>
        <p:cNvGrpSpPr/>
        <p:nvPr/>
      </p:nvGrpSpPr>
      <p:grpSpPr>
        <a:xfrm>
          <a:off x="0" y="0"/>
          <a:ext cx="0" cy="0"/>
          <a:chOff x="0" y="0"/>
          <a:chExt cx="0" cy="0"/>
        </a:xfrm>
      </p:grpSpPr>
      <p:sp>
        <p:nvSpPr>
          <p:cNvPr id="2" name="Freeform 2"/>
          <p:cNvSpPr/>
          <p:nvPr/>
        </p:nvSpPr>
        <p:spPr>
          <a:xfrm rot="-976979">
            <a:off x="15024323" y="-254132"/>
            <a:ext cx="3691690" cy="3823784"/>
          </a:xfrm>
          <a:custGeom>
            <a:avLst/>
            <a:gdLst/>
            <a:ahLst/>
            <a:cxnLst/>
            <a:rect l="l" t="t" r="r" b="b"/>
            <a:pathLst>
              <a:path w="3691690" h="3823784">
                <a:moveTo>
                  <a:pt x="0" y="0"/>
                </a:moveTo>
                <a:lnTo>
                  <a:pt x="3691689" y="0"/>
                </a:lnTo>
                <a:lnTo>
                  <a:pt x="3691689" y="3823784"/>
                </a:lnTo>
                <a:lnTo>
                  <a:pt x="0" y="3823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384494">
            <a:off x="-335372" y="66320"/>
            <a:ext cx="3466502" cy="3182879"/>
          </a:xfrm>
          <a:custGeom>
            <a:avLst/>
            <a:gdLst/>
            <a:ahLst/>
            <a:cxnLst/>
            <a:rect l="l" t="t" r="r" b="b"/>
            <a:pathLst>
              <a:path w="3466502" h="3182879">
                <a:moveTo>
                  <a:pt x="0" y="0"/>
                </a:moveTo>
                <a:lnTo>
                  <a:pt x="3466503" y="0"/>
                </a:lnTo>
                <a:lnTo>
                  <a:pt x="3466503" y="3182880"/>
                </a:lnTo>
                <a:lnTo>
                  <a:pt x="0" y="31828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143242">
            <a:off x="14974832" y="6882682"/>
            <a:ext cx="3246709" cy="3258558"/>
          </a:xfrm>
          <a:custGeom>
            <a:avLst/>
            <a:gdLst/>
            <a:ahLst/>
            <a:cxnLst/>
            <a:rect l="l" t="t" r="r" b="b"/>
            <a:pathLst>
              <a:path w="3246709" h="3258558">
                <a:moveTo>
                  <a:pt x="0" y="0"/>
                </a:moveTo>
                <a:lnTo>
                  <a:pt x="3246709" y="0"/>
                </a:lnTo>
                <a:lnTo>
                  <a:pt x="3246709" y="3258558"/>
                </a:lnTo>
                <a:lnTo>
                  <a:pt x="0" y="32585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028700" y="1002338"/>
            <a:ext cx="16230600" cy="5051239"/>
          </a:xfrm>
          <a:prstGeom prst="rect">
            <a:avLst/>
          </a:prstGeom>
        </p:spPr>
        <p:txBody>
          <a:bodyPr lIns="0" tIns="0" rIns="0" bIns="0" rtlCol="0" anchor="t">
            <a:spAutoFit/>
          </a:bodyPr>
          <a:lstStyle/>
          <a:p>
            <a:pPr algn="ctr">
              <a:lnSpc>
                <a:spcPts val="9876"/>
              </a:lnSpc>
              <a:spcBef>
                <a:spcPct val="0"/>
              </a:spcBef>
            </a:pPr>
            <a:r>
              <a:rPr lang="en-US" sz="9876">
                <a:solidFill>
                  <a:srgbClr val="424848"/>
                </a:solidFill>
                <a:latin typeface="Candal"/>
                <a:ea typeface="Candal"/>
                <a:cs typeface="Candal"/>
                <a:sym typeface="Candal"/>
              </a:rPr>
              <a:t>Vehicle Emission Monitor</a:t>
            </a:r>
          </a:p>
          <a:p>
            <a:pPr algn="ctr">
              <a:lnSpc>
                <a:spcPts val="9876"/>
              </a:lnSpc>
              <a:spcBef>
                <a:spcPct val="0"/>
              </a:spcBef>
            </a:pPr>
            <a:r>
              <a:rPr lang="en-US" sz="9876">
                <a:solidFill>
                  <a:srgbClr val="424848"/>
                </a:solidFill>
                <a:latin typeface="Candal"/>
                <a:ea typeface="Candal"/>
                <a:cs typeface="Candal"/>
                <a:sym typeface="Candal"/>
              </a:rPr>
              <a:t> Real-Time Pollution Detection </a:t>
            </a:r>
          </a:p>
        </p:txBody>
      </p:sp>
      <p:sp>
        <p:nvSpPr>
          <p:cNvPr id="6" name="TextBox 6"/>
          <p:cNvSpPr txBox="1"/>
          <p:nvPr/>
        </p:nvSpPr>
        <p:spPr>
          <a:xfrm>
            <a:off x="0" y="8445286"/>
            <a:ext cx="6389406" cy="2370777"/>
          </a:xfrm>
          <a:prstGeom prst="rect">
            <a:avLst/>
          </a:prstGeom>
        </p:spPr>
        <p:txBody>
          <a:bodyPr lIns="0" tIns="0" rIns="0" bIns="0" rtlCol="0" anchor="t">
            <a:spAutoFit/>
          </a:bodyPr>
          <a:lstStyle/>
          <a:p>
            <a:pPr algn="ctr">
              <a:lnSpc>
                <a:spcPts val="4675"/>
              </a:lnSpc>
            </a:pPr>
            <a:r>
              <a:rPr lang="en-US" sz="3339" b="1" dirty="0">
                <a:solidFill>
                  <a:srgbClr val="424848"/>
                </a:solidFill>
                <a:latin typeface="Canva Sans Bold"/>
                <a:ea typeface="Canva Sans Bold"/>
                <a:cs typeface="Canva Sans Bold"/>
                <a:sym typeface="Canva Sans Bold"/>
              </a:rPr>
              <a:t>VATSAL MAKWANA 25DCE050</a:t>
            </a:r>
          </a:p>
          <a:p>
            <a:pPr algn="ctr">
              <a:lnSpc>
                <a:spcPts val="4675"/>
              </a:lnSpc>
            </a:pPr>
            <a:r>
              <a:rPr lang="en-US" sz="3339" b="1" dirty="0">
                <a:solidFill>
                  <a:srgbClr val="424848"/>
                </a:solidFill>
                <a:latin typeface="Canva Sans Bold"/>
                <a:ea typeface="Canva Sans Bold"/>
                <a:cs typeface="Canva Sans Bold"/>
                <a:sym typeface="Canva Sans Bold"/>
              </a:rPr>
              <a:t>ARCHI BHATT   25DCE009</a:t>
            </a:r>
          </a:p>
          <a:p>
            <a:pPr algn="ctr">
              <a:lnSpc>
                <a:spcPts val="4675"/>
              </a:lnSpc>
            </a:pPr>
            <a:r>
              <a:rPr lang="en-US" sz="3339" b="1" dirty="0">
                <a:solidFill>
                  <a:srgbClr val="424848"/>
                </a:solidFill>
                <a:latin typeface="Canva Sans Bold"/>
                <a:ea typeface="Canva Sans Bold"/>
                <a:cs typeface="Canva Sans Bold"/>
                <a:sym typeface="Canva Sans Bold"/>
              </a:rPr>
              <a:t>KRISHNA GAJARA 25DCE026</a:t>
            </a:r>
          </a:p>
          <a:p>
            <a:pPr algn="ctr">
              <a:lnSpc>
                <a:spcPts val="4675"/>
              </a:lnSpc>
            </a:pPr>
            <a:endParaRPr lang="en-US" sz="3339" b="1" dirty="0">
              <a:solidFill>
                <a:srgbClr val="424848"/>
              </a:solidFill>
              <a:latin typeface="Canva Sans Bold"/>
              <a:ea typeface="Canva Sans Bold"/>
              <a:cs typeface="Canva Sans Bold"/>
              <a:sym typeface="Canva Sans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FEE"/>
        </a:solidFill>
        <a:effectLst/>
      </p:bgPr>
    </p:bg>
    <p:spTree>
      <p:nvGrpSpPr>
        <p:cNvPr id="1" name=""/>
        <p:cNvGrpSpPr/>
        <p:nvPr/>
      </p:nvGrpSpPr>
      <p:grpSpPr>
        <a:xfrm>
          <a:off x="0" y="0"/>
          <a:ext cx="0" cy="0"/>
          <a:chOff x="0" y="0"/>
          <a:chExt cx="0" cy="0"/>
        </a:xfrm>
      </p:grpSpPr>
      <p:sp>
        <p:nvSpPr>
          <p:cNvPr id="2" name="Freeform 2"/>
          <p:cNvSpPr/>
          <p:nvPr/>
        </p:nvSpPr>
        <p:spPr>
          <a:xfrm>
            <a:off x="14820632" y="-453672"/>
            <a:ext cx="3467368" cy="3215196"/>
          </a:xfrm>
          <a:custGeom>
            <a:avLst/>
            <a:gdLst/>
            <a:ahLst/>
            <a:cxnLst/>
            <a:rect l="l" t="t" r="r" b="b"/>
            <a:pathLst>
              <a:path w="3467368" h="3215196">
                <a:moveTo>
                  <a:pt x="0" y="0"/>
                </a:moveTo>
                <a:lnTo>
                  <a:pt x="3467368" y="0"/>
                </a:lnTo>
                <a:lnTo>
                  <a:pt x="3467368" y="3215196"/>
                </a:lnTo>
                <a:lnTo>
                  <a:pt x="0" y="32151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739560">
            <a:off x="-799107" y="8229600"/>
            <a:ext cx="3261914" cy="4114800"/>
          </a:xfrm>
          <a:custGeom>
            <a:avLst/>
            <a:gdLst/>
            <a:ahLst/>
            <a:cxnLst/>
            <a:rect l="l" t="t" r="r" b="b"/>
            <a:pathLst>
              <a:path w="3261914" h="4114800">
                <a:moveTo>
                  <a:pt x="0" y="0"/>
                </a:moveTo>
                <a:lnTo>
                  <a:pt x="3261914" y="0"/>
                </a:lnTo>
                <a:lnTo>
                  <a:pt x="326191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51636" y="-316736"/>
            <a:ext cx="2566973" cy="2941323"/>
          </a:xfrm>
          <a:custGeom>
            <a:avLst/>
            <a:gdLst/>
            <a:ahLst/>
            <a:cxnLst/>
            <a:rect l="l" t="t" r="r" b="b"/>
            <a:pathLst>
              <a:path w="2566973" h="2941323">
                <a:moveTo>
                  <a:pt x="0" y="0"/>
                </a:moveTo>
                <a:lnTo>
                  <a:pt x="2566973" y="0"/>
                </a:lnTo>
                <a:lnTo>
                  <a:pt x="2566973" y="2941323"/>
                </a:lnTo>
                <a:lnTo>
                  <a:pt x="0" y="29413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6070898" y="7451805"/>
            <a:ext cx="2995904" cy="3230877"/>
          </a:xfrm>
          <a:custGeom>
            <a:avLst/>
            <a:gdLst/>
            <a:ahLst/>
            <a:cxnLst/>
            <a:rect l="l" t="t" r="r" b="b"/>
            <a:pathLst>
              <a:path w="2995904" h="3230877">
                <a:moveTo>
                  <a:pt x="0" y="0"/>
                </a:moveTo>
                <a:lnTo>
                  <a:pt x="2995904" y="0"/>
                </a:lnTo>
                <a:lnTo>
                  <a:pt x="2995904" y="3230877"/>
                </a:lnTo>
                <a:lnTo>
                  <a:pt x="0" y="323087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8620369" y="2892944"/>
            <a:ext cx="5721703" cy="6365356"/>
          </a:xfrm>
          <a:custGeom>
            <a:avLst/>
            <a:gdLst/>
            <a:ahLst/>
            <a:cxnLst/>
            <a:rect l="l" t="t" r="r" b="b"/>
            <a:pathLst>
              <a:path w="5721703" h="6365356">
                <a:moveTo>
                  <a:pt x="0" y="0"/>
                </a:moveTo>
                <a:lnTo>
                  <a:pt x="5721704" y="0"/>
                </a:lnTo>
                <a:lnTo>
                  <a:pt x="5721704" y="6365356"/>
                </a:lnTo>
                <a:lnTo>
                  <a:pt x="0" y="6365356"/>
                </a:lnTo>
                <a:lnTo>
                  <a:pt x="0" y="0"/>
                </a:lnTo>
                <a:close/>
              </a:path>
            </a:pathLst>
          </a:custGeom>
          <a:blipFill>
            <a:blip r:embed="rId10"/>
            <a:stretch>
              <a:fillRect l="-5624" r="-5624"/>
            </a:stretch>
          </a:blipFill>
        </p:spPr>
      </p:sp>
      <p:sp>
        <p:nvSpPr>
          <p:cNvPr id="7" name="TextBox 7"/>
          <p:cNvSpPr txBox="1"/>
          <p:nvPr/>
        </p:nvSpPr>
        <p:spPr>
          <a:xfrm>
            <a:off x="2512377" y="1219200"/>
            <a:ext cx="13263247" cy="1308118"/>
          </a:xfrm>
          <a:prstGeom prst="rect">
            <a:avLst/>
          </a:prstGeom>
        </p:spPr>
        <p:txBody>
          <a:bodyPr lIns="0" tIns="0" rIns="0" bIns="0" rtlCol="0" anchor="t">
            <a:spAutoFit/>
          </a:bodyPr>
          <a:lstStyle/>
          <a:p>
            <a:pPr algn="ctr">
              <a:lnSpc>
                <a:spcPts val="9876"/>
              </a:lnSpc>
            </a:pPr>
            <a:r>
              <a:rPr lang="en-US" sz="9876">
                <a:solidFill>
                  <a:srgbClr val="424848"/>
                </a:solidFill>
                <a:latin typeface="Candal"/>
                <a:ea typeface="Candal"/>
                <a:cs typeface="Candal"/>
                <a:sym typeface="Candal"/>
              </a:rPr>
              <a:t>Introduction</a:t>
            </a:r>
          </a:p>
        </p:txBody>
      </p:sp>
      <p:sp>
        <p:nvSpPr>
          <p:cNvPr id="8" name="TextBox 8"/>
          <p:cNvSpPr txBox="1"/>
          <p:nvPr/>
        </p:nvSpPr>
        <p:spPr>
          <a:xfrm>
            <a:off x="472401" y="3420400"/>
            <a:ext cx="7142817" cy="5734079"/>
          </a:xfrm>
          <a:prstGeom prst="rect">
            <a:avLst/>
          </a:prstGeom>
        </p:spPr>
        <p:txBody>
          <a:bodyPr lIns="0" tIns="0" rIns="0" bIns="0" rtlCol="0" anchor="t">
            <a:spAutoFit/>
          </a:bodyPr>
          <a:lstStyle/>
          <a:p>
            <a:pPr algn="l">
              <a:lnSpc>
                <a:spcPts val="3751"/>
              </a:lnSpc>
            </a:pPr>
            <a:r>
              <a:rPr lang="en-US" sz="3751" b="1" i="1" u="sng">
                <a:solidFill>
                  <a:srgbClr val="000000"/>
                </a:solidFill>
                <a:latin typeface="Proxima Nova Bold Italics"/>
                <a:ea typeface="Proxima Nova Bold Italics"/>
                <a:cs typeface="Proxima Nova Bold Italics"/>
                <a:sym typeface="Proxima Nova Bold Italics"/>
              </a:rPr>
              <a:t>The main idea behind this project is simple — Measure. Monitor. Protect.</a:t>
            </a:r>
          </a:p>
          <a:p>
            <a:pPr algn="l">
              <a:lnSpc>
                <a:spcPts val="3751"/>
              </a:lnSpc>
            </a:pPr>
            <a:r>
              <a:rPr lang="en-US" sz="3751">
                <a:solidFill>
                  <a:srgbClr val="000000"/>
                </a:solidFill>
                <a:latin typeface="Proxima Nova"/>
                <a:ea typeface="Proxima Nova"/>
                <a:cs typeface="Proxima Nova"/>
                <a:sym typeface="Proxima Nova"/>
              </a:rPr>
              <a:t>This project focuses on detecting vehicle pollution in real time using an ESP32 microcontroller and an MQ-2 gas sensor.</a:t>
            </a:r>
          </a:p>
          <a:p>
            <a:pPr algn="l">
              <a:lnSpc>
                <a:spcPts val="3751"/>
              </a:lnSpc>
            </a:pPr>
            <a:r>
              <a:rPr lang="en-US" sz="3751">
                <a:solidFill>
                  <a:srgbClr val="000000"/>
                </a:solidFill>
                <a:latin typeface="Proxima Nova"/>
                <a:ea typeface="Proxima Nova"/>
                <a:cs typeface="Proxima Nova"/>
                <a:sym typeface="Proxima Nova"/>
              </a:rPr>
              <a:t> Instead of checking pollution occasionally, we continuously monitor emissions and detect harmful spikes instantly</a:t>
            </a:r>
          </a:p>
          <a:p>
            <a:pPr algn="l">
              <a:lnSpc>
                <a:spcPts val="3751"/>
              </a:lnSpc>
            </a:pPr>
            <a:endParaRPr lang="en-US" sz="3751">
              <a:solidFill>
                <a:srgbClr val="000000"/>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FEE"/>
        </a:solidFill>
        <a:effectLst/>
      </p:bgPr>
    </p:bg>
    <p:spTree>
      <p:nvGrpSpPr>
        <p:cNvPr id="1" name=""/>
        <p:cNvGrpSpPr/>
        <p:nvPr/>
      </p:nvGrpSpPr>
      <p:grpSpPr>
        <a:xfrm>
          <a:off x="0" y="0"/>
          <a:ext cx="0" cy="0"/>
          <a:chOff x="0" y="0"/>
          <a:chExt cx="0" cy="0"/>
        </a:xfrm>
      </p:grpSpPr>
      <p:sp>
        <p:nvSpPr>
          <p:cNvPr id="2" name="Freeform 2"/>
          <p:cNvSpPr/>
          <p:nvPr/>
        </p:nvSpPr>
        <p:spPr>
          <a:xfrm>
            <a:off x="14820632" y="-453672"/>
            <a:ext cx="3467368" cy="3215196"/>
          </a:xfrm>
          <a:custGeom>
            <a:avLst/>
            <a:gdLst/>
            <a:ahLst/>
            <a:cxnLst/>
            <a:rect l="l" t="t" r="r" b="b"/>
            <a:pathLst>
              <a:path w="3467368" h="3215196">
                <a:moveTo>
                  <a:pt x="0" y="0"/>
                </a:moveTo>
                <a:lnTo>
                  <a:pt x="3467368" y="0"/>
                </a:lnTo>
                <a:lnTo>
                  <a:pt x="3467368" y="3215196"/>
                </a:lnTo>
                <a:lnTo>
                  <a:pt x="0" y="32151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739560">
            <a:off x="-799107" y="8229600"/>
            <a:ext cx="3261914" cy="4114800"/>
          </a:xfrm>
          <a:custGeom>
            <a:avLst/>
            <a:gdLst/>
            <a:ahLst/>
            <a:cxnLst/>
            <a:rect l="l" t="t" r="r" b="b"/>
            <a:pathLst>
              <a:path w="3261914" h="4114800">
                <a:moveTo>
                  <a:pt x="0" y="0"/>
                </a:moveTo>
                <a:lnTo>
                  <a:pt x="3261914" y="0"/>
                </a:lnTo>
                <a:lnTo>
                  <a:pt x="326191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51636" y="-316736"/>
            <a:ext cx="2566973" cy="2941323"/>
          </a:xfrm>
          <a:custGeom>
            <a:avLst/>
            <a:gdLst/>
            <a:ahLst/>
            <a:cxnLst/>
            <a:rect l="l" t="t" r="r" b="b"/>
            <a:pathLst>
              <a:path w="2566973" h="2941323">
                <a:moveTo>
                  <a:pt x="0" y="0"/>
                </a:moveTo>
                <a:lnTo>
                  <a:pt x="2566973" y="0"/>
                </a:lnTo>
                <a:lnTo>
                  <a:pt x="2566973" y="2941323"/>
                </a:lnTo>
                <a:lnTo>
                  <a:pt x="0" y="29413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6070898" y="7451805"/>
            <a:ext cx="2995904" cy="3230877"/>
          </a:xfrm>
          <a:custGeom>
            <a:avLst/>
            <a:gdLst/>
            <a:ahLst/>
            <a:cxnLst/>
            <a:rect l="l" t="t" r="r" b="b"/>
            <a:pathLst>
              <a:path w="2995904" h="3230877">
                <a:moveTo>
                  <a:pt x="0" y="0"/>
                </a:moveTo>
                <a:lnTo>
                  <a:pt x="2995904" y="0"/>
                </a:lnTo>
                <a:lnTo>
                  <a:pt x="2995904" y="3230877"/>
                </a:lnTo>
                <a:lnTo>
                  <a:pt x="0" y="323087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2115337" y="205726"/>
            <a:ext cx="13643825" cy="2555798"/>
          </a:xfrm>
          <a:prstGeom prst="rect">
            <a:avLst/>
          </a:prstGeom>
        </p:spPr>
        <p:txBody>
          <a:bodyPr lIns="0" tIns="0" rIns="0" bIns="0" rtlCol="0" anchor="t">
            <a:spAutoFit/>
          </a:bodyPr>
          <a:lstStyle/>
          <a:p>
            <a:pPr algn="ctr">
              <a:lnSpc>
                <a:spcPts val="9876"/>
              </a:lnSpc>
            </a:pPr>
            <a:r>
              <a:rPr lang="en-US" sz="9876">
                <a:solidFill>
                  <a:srgbClr val="424848"/>
                </a:solidFill>
                <a:latin typeface="Candal"/>
                <a:ea typeface="Candal"/>
                <a:cs typeface="Candal"/>
                <a:sym typeface="Candal"/>
              </a:rPr>
              <a:t>Why Do We Need This?</a:t>
            </a:r>
          </a:p>
        </p:txBody>
      </p:sp>
      <p:sp>
        <p:nvSpPr>
          <p:cNvPr id="7" name="Freeform 7"/>
          <p:cNvSpPr/>
          <p:nvPr/>
        </p:nvSpPr>
        <p:spPr>
          <a:xfrm>
            <a:off x="13013259" y="3337005"/>
            <a:ext cx="4246041" cy="4114800"/>
          </a:xfrm>
          <a:custGeom>
            <a:avLst/>
            <a:gdLst/>
            <a:ahLst/>
            <a:cxnLst/>
            <a:rect l="l" t="t" r="r" b="b"/>
            <a:pathLst>
              <a:path w="4246041" h="4114800">
                <a:moveTo>
                  <a:pt x="0" y="0"/>
                </a:moveTo>
                <a:lnTo>
                  <a:pt x="4246041" y="0"/>
                </a:lnTo>
                <a:lnTo>
                  <a:pt x="424604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TextBox 8"/>
          <p:cNvSpPr txBox="1"/>
          <p:nvPr/>
        </p:nvSpPr>
        <p:spPr>
          <a:xfrm>
            <a:off x="433305" y="3080220"/>
            <a:ext cx="11358854" cy="7003292"/>
          </a:xfrm>
          <a:prstGeom prst="rect">
            <a:avLst/>
          </a:prstGeom>
        </p:spPr>
        <p:txBody>
          <a:bodyPr lIns="0" tIns="0" rIns="0" bIns="0" rtlCol="0" anchor="t">
            <a:spAutoFit/>
          </a:bodyPr>
          <a:lstStyle/>
          <a:p>
            <a:pPr algn="just">
              <a:lnSpc>
                <a:spcPts val="3499"/>
              </a:lnSpc>
            </a:pPr>
            <a:r>
              <a:rPr lang="en-US" sz="3499">
                <a:solidFill>
                  <a:srgbClr val="000000"/>
                </a:solidFill>
                <a:latin typeface="Proxima Nova"/>
                <a:ea typeface="Proxima Nova"/>
                <a:cs typeface="Proxima Nova"/>
                <a:sym typeface="Proxima Nova"/>
              </a:rPr>
              <a:t>“Air pollution is a major problem in India, especially in urban areas.</a:t>
            </a:r>
          </a:p>
          <a:p>
            <a:pPr algn="just">
              <a:lnSpc>
                <a:spcPts val="3499"/>
              </a:lnSpc>
            </a:pPr>
            <a:r>
              <a:rPr lang="en-US" sz="3499">
                <a:solidFill>
                  <a:srgbClr val="000000"/>
                </a:solidFill>
                <a:latin typeface="Proxima Nova"/>
                <a:ea typeface="Proxima Nova"/>
                <a:cs typeface="Proxima Nova"/>
                <a:sym typeface="Proxima Nova"/>
              </a:rPr>
              <a:t> Vehicles are the number one source of pollution, releasing harmful gases like carbon monoxide and particulate matter.</a:t>
            </a:r>
          </a:p>
          <a:p>
            <a:pPr algn="just">
              <a:lnSpc>
                <a:spcPts val="3499"/>
              </a:lnSpc>
            </a:pPr>
            <a:r>
              <a:rPr lang="en-US" sz="3499">
                <a:solidFill>
                  <a:srgbClr val="000000"/>
                </a:solidFill>
                <a:latin typeface="Proxima Nova"/>
                <a:ea typeface="Proxima Nova"/>
                <a:cs typeface="Proxima Nova"/>
                <a:sym typeface="Proxima Nova"/>
              </a:rPr>
              <a:t>These pollutants cause serious health issues such as asthma, lung infections, and even long-term diseases.</a:t>
            </a:r>
          </a:p>
          <a:p>
            <a:pPr algn="just">
              <a:lnSpc>
                <a:spcPts val="3399"/>
              </a:lnSpc>
            </a:pPr>
            <a:r>
              <a:rPr lang="en-US" sz="3399">
                <a:solidFill>
                  <a:srgbClr val="000000"/>
                </a:solidFill>
                <a:latin typeface="Proxima Nova"/>
                <a:ea typeface="Proxima Nova"/>
                <a:cs typeface="Proxima Nova"/>
                <a:sym typeface="Proxima Nova"/>
              </a:rPr>
              <a:t>Currently, we rely on PUC (Pollution Under Control) checks, but they are done only once every 6 months.</a:t>
            </a:r>
          </a:p>
          <a:p>
            <a:pPr algn="just">
              <a:lnSpc>
                <a:spcPts val="3499"/>
              </a:lnSpc>
            </a:pPr>
            <a:r>
              <a:rPr lang="en-US" sz="3499">
                <a:solidFill>
                  <a:srgbClr val="000000"/>
                </a:solidFill>
                <a:latin typeface="Proxima Nova"/>
                <a:ea typeface="Proxima Nova"/>
                <a:cs typeface="Proxima Nova"/>
                <a:sym typeface="Proxima Nova"/>
              </a:rPr>
              <a:t> This means a vehicle can pollute heavily in between without any detection.</a:t>
            </a:r>
          </a:p>
          <a:p>
            <a:pPr algn="just">
              <a:lnSpc>
                <a:spcPts val="3499"/>
              </a:lnSpc>
            </a:pPr>
            <a:r>
              <a:rPr lang="en-US" sz="3499">
                <a:solidFill>
                  <a:srgbClr val="000000"/>
                </a:solidFill>
                <a:latin typeface="Proxima Nova"/>
                <a:ea typeface="Proxima Nova"/>
                <a:cs typeface="Proxima Nova"/>
                <a:sym typeface="Proxima Nova"/>
              </a:rPr>
              <a:t>Also, there is no real-time system at traffic signals to identify highly polluting vehicles.</a:t>
            </a:r>
          </a:p>
          <a:p>
            <a:pPr algn="just">
              <a:lnSpc>
                <a:spcPts val="3499"/>
              </a:lnSpc>
            </a:pPr>
            <a:r>
              <a:rPr lang="en-US" sz="3499">
                <a:solidFill>
                  <a:srgbClr val="000000"/>
                </a:solidFill>
                <a:latin typeface="Proxima Nova"/>
                <a:ea typeface="Proxima Nova"/>
                <a:cs typeface="Proxima Nova"/>
                <a:sym typeface="Proxima Nova"/>
              </a:rPr>
              <a:t>So, there is a clear need for a low-cost, real-time monitoring solution.”</a:t>
            </a:r>
          </a:p>
          <a:p>
            <a:pPr algn="just">
              <a:lnSpc>
                <a:spcPts val="3499"/>
              </a:lnSpc>
            </a:pPr>
            <a:endParaRPr lang="en-US" sz="3499">
              <a:solidFill>
                <a:srgbClr val="000000"/>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FEE"/>
        </a:solidFill>
        <a:effectLst/>
      </p:bgPr>
    </p:bg>
    <p:spTree>
      <p:nvGrpSpPr>
        <p:cNvPr id="1" name=""/>
        <p:cNvGrpSpPr/>
        <p:nvPr/>
      </p:nvGrpSpPr>
      <p:grpSpPr>
        <a:xfrm>
          <a:off x="0" y="0"/>
          <a:ext cx="0" cy="0"/>
          <a:chOff x="0" y="0"/>
          <a:chExt cx="0" cy="0"/>
        </a:xfrm>
      </p:grpSpPr>
      <p:sp>
        <p:nvSpPr>
          <p:cNvPr id="2" name="Freeform 2"/>
          <p:cNvSpPr/>
          <p:nvPr/>
        </p:nvSpPr>
        <p:spPr>
          <a:xfrm>
            <a:off x="14820632" y="-453672"/>
            <a:ext cx="3467368" cy="3215196"/>
          </a:xfrm>
          <a:custGeom>
            <a:avLst/>
            <a:gdLst/>
            <a:ahLst/>
            <a:cxnLst/>
            <a:rect l="l" t="t" r="r" b="b"/>
            <a:pathLst>
              <a:path w="3467368" h="3215196">
                <a:moveTo>
                  <a:pt x="0" y="0"/>
                </a:moveTo>
                <a:lnTo>
                  <a:pt x="3467368" y="0"/>
                </a:lnTo>
                <a:lnTo>
                  <a:pt x="3467368" y="3215196"/>
                </a:lnTo>
                <a:lnTo>
                  <a:pt x="0" y="32151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739560">
            <a:off x="-799107" y="8229600"/>
            <a:ext cx="3261914" cy="4114800"/>
          </a:xfrm>
          <a:custGeom>
            <a:avLst/>
            <a:gdLst/>
            <a:ahLst/>
            <a:cxnLst/>
            <a:rect l="l" t="t" r="r" b="b"/>
            <a:pathLst>
              <a:path w="3261914" h="4114800">
                <a:moveTo>
                  <a:pt x="0" y="0"/>
                </a:moveTo>
                <a:lnTo>
                  <a:pt x="3261914" y="0"/>
                </a:lnTo>
                <a:lnTo>
                  <a:pt x="326191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51636" y="-316736"/>
            <a:ext cx="2566973" cy="2941323"/>
          </a:xfrm>
          <a:custGeom>
            <a:avLst/>
            <a:gdLst/>
            <a:ahLst/>
            <a:cxnLst/>
            <a:rect l="l" t="t" r="r" b="b"/>
            <a:pathLst>
              <a:path w="2566973" h="2941323">
                <a:moveTo>
                  <a:pt x="0" y="0"/>
                </a:moveTo>
                <a:lnTo>
                  <a:pt x="2566973" y="0"/>
                </a:lnTo>
                <a:lnTo>
                  <a:pt x="2566973" y="2941323"/>
                </a:lnTo>
                <a:lnTo>
                  <a:pt x="0" y="29413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5" name="Group 5"/>
          <p:cNvGrpSpPr/>
          <p:nvPr/>
        </p:nvGrpSpPr>
        <p:grpSpPr>
          <a:xfrm>
            <a:off x="975384" y="4475971"/>
            <a:ext cx="3886692" cy="4339822"/>
            <a:chOff x="0" y="0"/>
            <a:chExt cx="1084510" cy="1210948"/>
          </a:xfrm>
        </p:grpSpPr>
        <p:sp>
          <p:nvSpPr>
            <p:cNvPr id="6" name="Freeform 6"/>
            <p:cNvSpPr/>
            <p:nvPr/>
          </p:nvSpPr>
          <p:spPr>
            <a:xfrm>
              <a:off x="0" y="0"/>
              <a:ext cx="1084510" cy="1210948"/>
            </a:xfrm>
            <a:custGeom>
              <a:avLst/>
              <a:gdLst/>
              <a:ahLst/>
              <a:cxnLst/>
              <a:rect l="l" t="t" r="r" b="b"/>
              <a:pathLst>
                <a:path w="1084510" h="1210948">
                  <a:moveTo>
                    <a:pt x="101587" y="0"/>
                  </a:moveTo>
                  <a:lnTo>
                    <a:pt x="982923" y="0"/>
                  </a:lnTo>
                  <a:cubicBezTo>
                    <a:pt x="1009866" y="0"/>
                    <a:pt x="1035705" y="10703"/>
                    <a:pt x="1054756" y="29754"/>
                  </a:cubicBezTo>
                  <a:cubicBezTo>
                    <a:pt x="1073807" y="48805"/>
                    <a:pt x="1084510" y="74645"/>
                    <a:pt x="1084510" y="101587"/>
                  </a:cubicBezTo>
                  <a:lnTo>
                    <a:pt x="1084510" y="1109361"/>
                  </a:lnTo>
                  <a:cubicBezTo>
                    <a:pt x="1084510" y="1136303"/>
                    <a:pt x="1073807" y="1162142"/>
                    <a:pt x="1054756" y="1181194"/>
                  </a:cubicBezTo>
                  <a:cubicBezTo>
                    <a:pt x="1035705" y="1200245"/>
                    <a:pt x="1009866" y="1210948"/>
                    <a:pt x="982923" y="1210948"/>
                  </a:cubicBezTo>
                  <a:lnTo>
                    <a:pt x="101587" y="1210948"/>
                  </a:lnTo>
                  <a:cubicBezTo>
                    <a:pt x="74645" y="1210948"/>
                    <a:pt x="48805" y="1200245"/>
                    <a:pt x="29754" y="1181194"/>
                  </a:cubicBezTo>
                  <a:cubicBezTo>
                    <a:pt x="10703" y="1162142"/>
                    <a:pt x="0" y="1136303"/>
                    <a:pt x="0" y="1109361"/>
                  </a:cubicBezTo>
                  <a:lnTo>
                    <a:pt x="0" y="101587"/>
                  </a:lnTo>
                  <a:cubicBezTo>
                    <a:pt x="0" y="74645"/>
                    <a:pt x="10703" y="48805"/>
                    <a:pt x="29754" y="29754"/>
                  </a:cubicBezTo>
                  <a:cubicBezTo>
                    <a:pt x="48805" y="10703"/>
                    <a:pt x="74645" y="0"/>
                    <a:pt x="101587" y="0"/>
                  </a:cubicBezTo>
                  <a:close/>
                </a:path>
              </a:pathLst>
            </a:custGeom>
            <a:solidFill>
              <a:srgbClr val="E2E3E2"/>
            </a:solidFill>
          </p:spPr>
        </p:sp>
        <p:sp>
          <p:nvSpPr>
            <p:cNvPr id="7" name="TextBox 7"/>
            <p:cNvSpPr txBox="1"/>
            <p:nvPr/>
          </p:nvSpPr>
          <p:spPr>
            <a:xfrm>
              <a:off x="0" y="-38100"/>
              <a:ext cx="1084510" cy="1249048"/>
            </a:xfrm>
            <a:prstGeom prst="rect">
              <a:avLst/>
            </a:prstGeom>
          </p:spPr>
          <p:txBody>
            <a:bodyPr lIns="47949" tIns="47949" rIns="47949" bIns="47949" rtlCol="0" anchor="ctr"/>
            <a:lstStyle/>
            <a:p>
              <a:pPr algn="ctr">
                <a:lnSpc>
                  <a:spcPts val="2659"/>
                </a:lnSpc>
                <a:spcBef>
                  <a:spcPct val="0"/>
                </a:spcBef>
              </a:pPr>
              <a:endParaRPr/>
            </a:p>
          </p:txBody>
        </p:sp>
      </p:grpSp>
      <p:grpSp>
        <p:nvGrpSpPr>
          <p:cNvPr id="8" name="Group 8"/>
          <p:cNvGrpSpPr/>
          <p:nvPr/>
        </p:nvGrpSpPr>
        <p:grpSpPr>
          <a:xfrm>
            <a:off x="5125564" y="4475971"/>
            <a:ext cx="3886692" cy="4339822"/>
            <a:chOff x="0" y="0"/>
            <a:chExt cx="1084510" cy="1210948"/>
          </a:xfrm>
        </p:grpSpPr>
        <p:sp>
          <p:nvSpPr>
            <p:cNvPr id="9" name="Freeform 9"/>
            <p:cNvSpPr/>
            <p:nvPr/>
          </p:nvSpPr>
          <p:spPr>
            <a:xfrm>
              <a:off x="0" y="0"/>
              <a:ext cx="1084510" cy="1210948"/>
            </a:xfrm>
            <a:custGeom>
              <a:avLst/>
              <a:gdLst/>
              <a:ahLst/>
              <a:cxnLst/>
              <a:rect l="l" t="t" r="r" b="b"/>
              <a:pathLst>
                <a:path w="1084510" h="1210948">
                  <a:moveTo>
                    <a:pt x="101587" y="0"/>
                  </a:moveTo>
                  <a:lnTo>
                    <a:pt x="982923" y="0"/>
                  </a:lnTo>
                  <a:cubicBezTo>
                    <a:pt x="1009866" y="0"/>
                    <a:pt x="1035705" y="10703"/>
                    <a:pt x="1054756" y="29754"/>
                  </a:cubicBezTo>
                  <a:cubicBezTo>
                    <a:pt x="1073807" y="48805"/>
                    <a:pt x="1084510" y="74645"/>
                    <a:pt x="1084510" y="101587"/>
                  </a:cubicBezTo>
                  <a:lnTo>
                    <a:pt x="1084510" y="1109361"/>
                  </a:lnTo>
                  <a:cubicBezTo>
                    <a:pt x="1084510" y="1136303"/>
                    <a:pt x="1073807" y="1162142"/>
                    <a:pt x="1054756" y="1181194"/>
                  </a:cubicBezTo>
                  <a:cubicBezTo>
                    <a:pt x="1035705" y="1200245"/>
                    <a:pt x="1009866" y="1210948"/>
                    <a:pt x="982923" y="1210948"/>
                  </a:cubicBezTo>
                  <a:lnTo>
                    <a:pt x="101587" y="1210948"/>
                  </a:lnTo>
                  <a:cubicBezTo>
                    <a:pt x="74645" y="1210948"/>
                    <a:pt x="48805" y="1200245"/>
                    <a:pt x="29754" y="1181194"/>
                  </a:cubicBezTo>
                  <a:cubicBezTo>
                    <a:pt x="10703" y="1162142"/>
                    <a:pt x="0" y="1136303"/>
                    <a:pt x="0" y="1109361"/>
                  </a:cubicBezTo>
                  <a:lnTo>
                    <a:pt x="0" y="101587"/>
                  </a:lnTo>
                  <a:cubicBezTo>
                    <a:pt x="0" y="74645"/>
                    <a:pt x="10703" y="48805"/>
                    <a:pt x="29754" y="29754"/>
                  </a:cubicBezTo>
                  <a:cubicBezTo>
                    <a:pt x="48805" y="10703"/>
                    <a:pt x="74645" y="0"/>
                    <a:pt x="101587" y="0"/>
                  </a:cubicBezTo>
                  <a:close/>
                </a:path>
              </a:pathLst>
            </a:custGeom>
            <a:solidFill>
              <a:srgbClr val="E2E3E2"/>
            </a:solidFill>
          </p:spPr>
        </p:sp>
        <p:sp>
          <p:nvSpPr>
            <p:cNvPr id="10" name="TextBox 10"/>
            <p:cNvSpPr txBox="1"/>
            <p:nvPr/>
          </p:nvSpPr>
          <p:spPr>
            <a:xfrm>
              <a:off x="0" y="-38100"/>
              <a:ext cx="1084510" cy="1249048"/>
            </a:xfrm>
            <a:prstGeom prst="rect">
              <a:avLst/>
            </a:prstGeom>
          </p:spPr>
          <p:txBody>
            <a:bodyPr lIns="47949" tIns="47949" rIns="47949" bIns="47949" rtlCol="0" anchor="ctr"/>
            <a:lstStyle/>
            <a:p>
              <a:pPr algn="ctr">
                <a:lnSpc>
                  <a:spcPts val="2659"/>
                </a:lnSpc>
                <a:spcBef>
                  <a:spcPct val="0"/>
                </a:spcBef>
              </a:pPr>
              <a:endParaRPr/>
            </a:p>
          </p:txBody>
        </p:sp>
      </p:grpSp>
      <p:grpSp>
        <p:nvGrpSpPr>
          <p:cNvPr id="11" name="Group 11"/>
          <p:cNvGrpSpPr/>
          <p:nvPr/>
        </p:nvGrpSpPr>
        <p:grpSpPr>
          <a:xfrm>
            <a:off x="9275744" y="4475971"/>
            <a:ext cx="3886692" cy="4339822"/>
            <a:chOff x="0" y="0"/>
            <a:chExt cx="1084510" cy="1210948"/>
          </a:xfrm>
        </p:grpSpPr>
        <p:sp>
          <p:nvSpPr>
            <p:cNvPr id="12" name="Freeform 12"/>
            <p:cNvSpPr/>
            <p:nvPr/>
          </p:nvSpPr>
          <p:spPr>
            <a:xfrm>
              <a:off x="0" y="0"/>
              <a:ext cx="1084510" cy="1210948"/>
            </a:xfrm>
            <a:custGeom>
              <a:avLst/>
              <a:gdLst/>
              <a:ahLst/>
              <a:cxnLst/>
              <a:rect l="l" t="t" r="r" b="b"/>
              <a:pathLst>
                <a:path w="1084510" h="1210948">
                  <a:moveTo>
                    <a:pt x="101587" y="0"/>
                  </a:moveTo>
                  <a:lnTo>
                    <a:pt x="982923" y="0"/>
                  </a:lnTo>
                  <a:cubicBezTo>
                    <a:pt x="1009866" y="0"/>
                    <a:pt x="1035705" y="10703"/>
                    <a:pt x="1054756" y="29754"/>
                  </a:cubicBezTo>
                  <a:cubicBezTo>
                    <a:pt x="1073807" y="48805"/>
                    <a:pt x="1084510" y="74645"/>
                    <a:pt x="1084510" y="101587"/>
                  </a:cubicBezTo>
                  <a:lnTo>
                    <a:pt x="1084510" y="1109361"/>
                  </a:lnTo>
                  <a:cubicBezTo>
                    <a:pt x="1084510" y="1136303"/>
                    <a:pt x="1073807" y="1162142"/>
                    <a:pt x="1054756" y="1181194"/>
                  </a:cubicBezTo>
                  <a:cubicBezTo>
                    <a:pt x="1035705" y="1200245"/>
                    <a:pt x="1009866" y="1210948"/>
                    <a:pt x="982923" y="1210948"/>
                  </a:cubicBezTo>
                  <a:lnTo>
                    <a:pt x="101587" y="1210948"/>
                  </a:lnTo>
                  <a:cubicBezTo>
                    <a:pt x="74645" y="1210948"/>
                    <a:pt x="48805" y="1200245"/>
                    <a:pt x="29754" y="1181194"/>
                  </a:cubicBezTo>
                  <a:cubicBezTo>
                    <a:pt x="10703" y="1162142"/>
                    <a:pt x="0" y="1136303"/>
                    <a:pt x="0" y="1109361"/>
                  </a:cubicBezTo>
                  <a:lnTo>
                    <a:pt x="0" y="101587"/>
                  </a:lnTo>
                  <a:cubicBezTo>
                    <a:pt x="0" y="74645"/>
                    <a:pt x="10703" y="48805"/>
                    <a:pt x="29754" y="29754"/>
                  </a:cubicBezTo>
                  <a:cubicBezTo>
                    <a:pt x="48805" y="10703"/>
                    <a:pt x="74645" y="0"/>
                    <a:pt x="101587" y="0"/>
                  </a:cubicBezTo>
                  <a:close/>
                </a:path>
              </a:pathLst>
            </a:custGeom>
            <a:solidFill>
              <a:srgbClr val="E2E3E2"/>
            </a:solidFill>
          </p:spPr>
        </p:sp>
        <p:sp>
          <p:nvSpPr>
            <p:cNvPr id="13" name="TextBox 13"/>
            <p:cNvSpPr txBox="1"/>
            <p:nvPr/>
          </p:nvSpPr>
          <p:spPr>
            <a:xfrm>
              <a:off x="0" y="-38100"/>
              <a:ext cx="1084510" cy="1249048"/>
            </a:xfrm>
            <a:prstGeom prst="rect">
              <a:avLst/>
            </a:prstGeom>
          </p:spPr>
          <p:txBody>
            <a:bodyPr lIns="47949" tIns="47949" rIns="47949" bIns="47949" rtlCol="0" anchor="ctr"/>
            <a:lstStyle/>
            <a:p>
              <a:pPr algn="ctr">
                <a:lnSpc>
                  <a:spcPts val="2659"/>
                </a:lnSpc>
                <a:spcBef>
                  <a:spcPct val="0"/>
                </a:spcBef>
              </a:pPr>
              <a:endParaRPr/>
            </a:p>
          </p:txBody>
        </p:sp>
      </p:grpSp>
      <p:sp>
        <p:nvSpPr>
          <p:cNvPr id="14" name="Freeform 14"/>
          <p:cNvSpPr/>
          <p:nvPr/>
        </p:nvSpPr>
        <p:spPr>
          <a:xfrm>
            <a:off x="16070898" y="7451805"/>
            <a:ext cx="2995904" cy="3230877"/>
          </a:xfrm>
          <a:custGeom>
            <a:avLst/>
            <a:gdLst/>
            <a:ahLst/>
            <a:cxnLst/>
            <a:rect l="l" t="t" r="r" b="b"/>
            <a:pathLst>
              <a:path w="2995904" h="3230877">
                <a:moveTo>
                  <a:pt x="0" y="0"/>
                </a:moveTo>
                <a:lnTo>
                  <a:pt x="2995904" y="0"/>
                </a:lnTo>
                <a:lnTo>
                  <a:pt x="2995904" y="3230877"/>
                </a:lnTo>
                <a:lnTo>
                  <a:pt x="0" y="323087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5" name="Group 15"/>
          <p:cNvGrpSpPr/>
          <p:nvPr/>
        </p:nvGrpSpPr>
        <p:grpSpPr>
          <a:xfrm>
            <a:off x="13425924" y="4475971"/>
            <a:ext cx="3886692" cy="4339822"/>
            <a:chOff x="0" y="0"/>
            <a:chExt cx="1084510" cy="1210948"/>
          </a:xfrm>
        </p:grpSpPr>
        <p:sp>
          <p:nvSpPr>
            <p:cNvPr id="16" name="Freeform 16"/>
            <p:cNvSpPr/>
            <p:nvPr/>
          </p:nvSpPr>
          <p:spPr>
            <a:xfrm>
              <a:off x="0" y="0"/>
              <a:ext cx="1084510" cy="1210948"/>
            </a:xfrm>
            <a:custGeom>
              <a:avLst/>
              <a:gdLst/>
              <a:ahLst/>
              <a:cxnLst/>
              <a:rect l="l" t="t" r="r" b="b"/>
              <a:pathLst>
                <a:path w="1084510" h="1210948">
                  <a:moveTo>
                    <a:pt x="101587" y="0"/>
                  </a:moveTo>
                  <a:lnTo>
                    <a:pt x="982923" y="0"/>
                  </a:lnTo>
                  <a:cubicBezTo>
                    <a:pt x="1009866" y="0"/>
                    <a:pt x="1035705" y="10703"/>
                    <a:pt x="1054756" y="29754"/>
                  </a:cubicBezTo>
                  <a:cubicBezTo>
                    <a:pt x="1073807" y="48805"/>
                    <a:pt x="1084510" y="74645"/>
                    <a:pt x="1084510" y="101587"/>
                  </a:cubicBezTo>
                  <a:lnTo>
                    <a:pt x="1084510" y="1109361"/>
                  </a:lnTo>
                  <a:cubicBezTo>
                    <a:pt x="1084510" y="1136303"/>
                    <a:pt x="1073807" y="1162142"/>
                    <a:pt x="1054756" y="1181194"/>
                  </a:cubicBezTo>
                  <a:cubicBezTo>
                    <a:pt x="1035705" y="1200245"/>
                    <a:pt x="1009866" y="1210948"/>
                    <a:pt x="982923" y="1210948"/>
                  </a:cubicBezTo>
                  <a:lnTo>
                    <a:pt x="101587" y="1210948"/>
                  </a:lnTo>
                  <a:cubicBezTo>
                    <a:pt x="74645" y="1210948"/>
                    <a:pt x="48805" y="1200245"/>
                    <a:pt x="29754" y="1181194"/>
                  </a:cubicBezTo>
                  <a:cubicBezTo>
                    <a:pt x="10703" y="1162142"/>
                    <a:pt x="0" y="1136303"/>
                    <a:pt x="0" y="1109361"/>
                  </a:cubicBezTo>
                  <a:lnTo>
                    <a:pt x="0" y="101587"/>
                  </a:lnTo>
                  <a:cubicBezTo>
                    <a:pt x="0" y="74645"/>
                    <a:pt x="10703" y="48805"/>
                    <a:pt x="29754" y="29754"/>
                  </a:cubicBezTo>
                  <a:cubicBezTo>
                    <a:pt x="48805" y="10703"/>
                    <a:pt x="74645" y="0"/>
                    <a:pt x="101587" y="0"/>
                  </a:cubicBezTo>
                  <a:close/>
                </a:path>
              </a:pathLst>
            </a:custGeom>
            <a:solidFill>
              <a:srgbClr val="E2E3E2"/>
            </a:solidFill>
          </p:spPr>
        </p:sp>
        <p:sp>
          <p:nvSpPr>
            <p:cNvPr id="17" name="TextBox 17"/>
            <p:cNvSpPr txBox="1"/>
            <p:nvPr/>
          </p:nvSpPr>
          <p:spPr>
            <a:xfrm>
              <a:off x="0" y="-38100"/>
              <a:ext cx="1084510" cy="1249048"/>
            </a:xfrm>
            <a:prstGeom prst="rect">
              <a:avLst/>
            </a:prstGeom>
          </p:spPr>
          <p:txBody>
            <a:bodyPr lIns="47949" tIns="47949" rIns="47949" bIns="47949" rtlCol="0" anchor="ctr"/>
            <a:lstStyle/>
            <a:p>
              <a:pPr algn="ctr">
                <a:lnSpc>
                  <a:spcPts val="2659"/>
                </a:lnSpc>
                <a:spcBef>
                  <a:spcPct val="0"/>
                </a:spcBef>
              </a:pPr>
              <a:endParaRPr/>
            </a:p>
          </p:txBody>
        </p:sp>
      </p:grpSp>
      <p:sp>
        <p:nvSpPr>
          <p:cNvPr id="18" name="Freeform 18"/>
          <p:cNvSpPr/>
          <p:nvPr/>
        </p:nvSpPr>
        <p:spPr>
          <a:xfrm>
            <a:off x="1721765" y="6378492"/>
            <a:ext cx="2588804" cy="2146625"/>
          </a:xfrm>
          <a:custGeom>
            <a:avLst/>
            <a:gdLst/>
            <a:ahLst/>
            <a:cxnLst/>
            <a:rect l="l" t="t" r="r" b="b"/>
            <a:pathLst>
              <a:path w="2588804" h="2146625">
                <a:moveTo>
                  <a:pt x="0" y="0"/>
                </a:moveTo>
                <a:lnTo>
                  <a:pt x="2588804" y="0"/>
                </a:lnTo>
                <a:lnTo>
                  <a:pt x="2588804" y="2146626"/>
                </a:lnTo>
                <a:lnTo>
                  <a:pt x="0" y="2146626"/>
                </a:lnTo>
                <a:lnTo>
                  <a:pt x="0" y="0"/>
                </a:lnTo>
                <a:close/>
              </a:path>
            </a:pathLst>
          </a:custGeom>
          <a:blipFill>
            <a:blip r:embed="rId10"/>
            <a:stretch>
              <a:fillRect/>
            </a:stretch>
          </a:blipFill>
        </p:spPr>
      </p:sp>
      <p:sp>
        <p:nvSpPr>
          <p:cNvPr id="19" name="Freeform 19"/>
          <p:cNvSpPr/>
          <p:nvPr/>
        </p:nvSpPr>
        <p:spPr>
          <a:xfrm>
            <a:off x="6053669" y="6147372"/>
            <a:ext cx="2313277" cy="2377746"/>
          </a:xfrm>
          <a:custGeom>
            <a:avLst/>
            <a:gdLst/>
            <a:ahLst/>
            <a:cxnLst/>
            <a:rect l="l" t="t" r="r" b="b"/>
            <a:pathLst>
              <a:path w="2313277" h="2377746">
                <a:moveTo>
                  <a:pt x="0" y="0"/>
                </a:moveTo>
                <a:lnTo>
                  <a:pt x="2313277" y="0"/>
                </a:lnTo>
                <a:lnTo>
                  <a:pt x="2313277" y="2377746"/>
                </a:lnTo>
                <a:lnTo>
                  <a:pt x="0" y="2377746"/>
                </a:lnTo>
                <a:lnTo>
                  <a:pt x="0" y="0"/>
                </a:lnTo>
                <a:close/>
              </a:path>
            </a:pathLst>
          </a:custGeom>
          <a:blipFill>
            <a:blip r:embed="rId11"/>
            <a:stretch>
              <a:fillRect/>
            </a:stretch>
          </a:blipFill>
        </p:spPr>
      </p:sp>
      <p:sp>
        <p:nvSpPr>
          <p:cNvPr id="20" name="Freeform 20"/>
          <p:cNvSpPr/>
          <p:nvPr/>
        </p:nvSpPr>
        <p:spPr>
          <a:xfrm>
            <a:off x="9628678" y="6252939"/>
            <a:ext cx="3180825" cy="2166611"/>
          </a:xfrm>
          <a:custGeom>
            <a:avLst/>
            <a:gdLst/>
            <a:ahLst/>
            <a:cxnLst/>
            <a:rect l="l" t="t" r="r" b="b"/>
            <a:pathLst>
              <a:path w="3180825" h="2166611">
                <a:moveTo>
                  <a:pt x="0" y="0"/>
                </a:moveTo>
                <a:lnTo>
                  <a:pt x="3180825" y="0"/>
                </a:lnTo>
                <a:lnTo>
                  <a:pt x="3180825" y="2166611"/>
                </a:lnTo>
                <a:lnTo>
                  <a:pt x="0" y="2166611"/>
                </a:lnTo>
                <a:lnTo>
                  <a:pt x="0" y="0"/>
                </a:lnTo>
                <a:close/>
              </a:path>
            </a:pathLst>
          </a:custGeom>
          <a:blipFill>
            <a:blip r:embed="rId12"/>
            <a:stretch>
              <a:fillRect/>
            </a:stretch>
          </a:blipFill>
        </p:spPr>
      </p:sp>
      <p:sp>
        <p:nvSpPr>
          <p:cNvPr id="21" name="Freeform 21"/>
          <p:cNvSpPr/>
          <p:nvPr/>
        </p:nvSpPr>
        <p:spPr>
          <a:xfrm>
            <a:off x="13626840" y="6297230"/>
            <a:ext cx="2927476" cy="2078028"/>
          </a:xfrm>
          <a:custGeom>
            <a:avLst/>
            <a:gdLst/>
            <a:ahLst/>
            <a:cxnLst/>
            <a:rect l="l" t="t" r="r" b="b"/>
            <a:pathLst>
              <a:path w="2927476" h="2078028">
                <a:moveTo>
                  <a:pt x="0" y="0"/>
                </a:moveTo>
                <a:lnTo>
                  <a:pt x="2927476" y="0"/>
                </a:lnTo>
                <a:lnTo>
                  <a:pt x="2927476" y="2078029"/>
                </a:lnTo>
                <a:lnTo>
                  <a:pt x="0" y="2078029"/>
                </a:lnTo>
                <a:lnTo>
                  <a:pt x="0" y="0"/>
                </a:lnTo>
                <a:close/>
              </a:path>
            </a:pathLst>
          </a:custGeom>
          <a:blipFill>
            <a:blip r:embed="rId13"/>
            <a:stretch>
              <a:fillRect/>
            </a:stretch>
          </a:blipFill>
        </p:spPr>
      </p:sp>
      <p:sp>
        <p:nvSpPr>
          <p:cNvPr id="22" name="TextBox 22"/>
          <p:cNvSpPr txBox="1"/>
          <p:nvPr/>
        </p:nvSpPr>
        <p:spPr>
          <a:xfrm>
            <a:off x="2089694" y="735537"/>
            <a:ext cx="13643825" cy="2555881"/>
          </a:xfrm>
          <a:prstGeom prst="rect">
            <a:avLst/>
          </a:prstGeom>
        </p:spPr>
        <p:txBody>
          <a:bodyPr lIns="0" tIns="0" rIns="0" bIns="0" rtlCol="0" anchor="t">
            <a:spAutoFit/>
          </a:bodyPr>
          <a:lstStyle/>
          <a:p>
            <a:pPr algn="ctr">
              <a:lnSpc>
                <a:spcPts val="9876"/>
              </a:lnSpc>
            </a:pPr>
            <a:r>
              <a:rPr lang="en-US" sz="9876">
                <a:solidFill>
                  <a:srgbClr val="424848"/>
                </a:solidFill>
                <a:latin typeface="Candal"/>
                <a:ea typeface="Candal"/>
                <a:cs typeface="Candal"/>
                <a:sym typeface="Candal"/>
              </a:rPr>
              <a:t>Sources of Air Pollution</a:t>
            </a:r>
          </a:p>
        </p:txBody>
      </p:sp>
      <p:sp>
        <p:nvSpPr>
          <p:cNvPr id="23" name="TextBox 23"/>
          <p:cNvSpPr txBox="1"/>
          <p:nvPr/>
        </p:nvSpPr>
        <p:spPr>
          <a:xfrm>
            <a:off x="1173471" y="5161502"/>
            <a:ext cx="3685393" cy="951923"/>
          </a:xfrm>
          <a:prstGeom prst="rect">
            <a:avLst/>
          </a:prstGeom>
        </p:spPr>
        <p:txBody>
          <a:bodyPr lIns="0" tIns="0" rIns="0" bIns="0" rtlCol="0" anchor="t">
            <a:spAutoFit/>
          </a:bodyPr>
          <a:lstStyle/>
          <a:p>
            <a:pPr algn="ctr">
              <a:lnSpc>
                <a:spcPts val="3646"/>
              </a:lnSpc>
            </a:pPr>
            <a:r>
              <a:rPr lang="en-US" sz="3646">
                <a:solidFill>
                  <a:srgbClr val="424848"/>
                </a:solidFill>
                <a:latin typeface="Candal"/>
                <a:ea typeface="Candal"/>
                <a:cs typeface="Candal"/>
                <a:sym typeface="Candal"/>
              </a:rPr>
              <a:t>Vehicle emissions</a:t>
            </a:r>
          </a:p>
        </p:txBody>
      </p:sp>
      <p:sp>
        <p:nvSpPr>
          <p:cNvPr id="24" name="TextBox 24"/>
          <p:cNvSpPr txBox="1"/>
          <p:nvPr/>
        </p:nvSpPr>
        <p:spPr>
          <a:xfrm>
            <a:off x="5226213" y="5161502"/>
            <a:ext cx="3685393" cy="951923"/>
          </a:xfrm>
          <a:prstGeom prst="rect">
            <a:avLst/>
          </a:prstGeom>
        </p:spPr>
        <p:txBody>
          <a:bodyPr lIns="0" tIns="0" rIns="0" bIns="0" rtlCol="0" anchor="t">
            <a:spAutoFit/>
          </a:bodyPr>
          <a:lstStyle/>
          <a:p>
            <a:pPr algn="ctr">
              <a:lnSpc>
                <a:spcPts val="3646"/>
              </a:lnSpc>
            </a:pPr>
            <a:r>
              <a:rPr lang="en-US" sz="3646">
                <a:solidFill>
                  <a:srgbClr val="424848"/>
                </a:solidFill>
                <a:latin typeface="Candal"/>
                <a:ea typeface="Candal"/>
                <a:cs typeface="Candal"/>
                <a:sym typeface="Candal"/>
              </a:rPr>
              <a:t>Industrial activities</a:t>
            </a:r>
          </a:p>
        </p:txBody>
      </p:sp>
      <p:sp>
        <p:nvSpPr>
          <p:cNvPr id="25" name="TextBox 25"/>
          <p:cNvSpPr txBox="1"/>
          <p:nvPr/>
        </p:nvSpPr>
        <p:spPr>
          <a:xfrm>
            <a:off x="9376393" y="5161502"/>
            <a:ext cx="3685393" cy="951923"/>
          </a:xfrm>
          <a:prstGeom prst="rect">
            <a:avLst/>
          </a:prstGeom>
        </p:spPr>
        <p:txBody>
          <a:bodyPr lIns="0" tIns="0" rIns="0" bIns="0" rtlCol="0" anchor="t">
            <a:spAutoFit/>
          </a:bodyPr>
          <a:lstStyle/>
          <a:p>
            <a:pPr algn="ctr">
              <a:lnSpc>
                <a:spcPts val="3646"/>
              </a:lnSpc>
            </a:pPr>
            <a:r>
              <a:rPr lang="en-US" sz="3646">
                <a:solidFill>
                  <a:srgbClr val="424848"/>
                </a:solidFill>
                <a:latin typeface="Candal"/>
                <a:ea typeface="Candal"/>
                <a:cs typeface="Candal"/>
                <a:sym typeface="Candal"/>
              </a:rPr>
              <a:t>Burning fossil fuels</a:t>
            </a:r>
          </a:p>
        </p:txBody>
      </p:sp>
      <p:sp>
        <p:nvSpPr>
          <p:cNvPr id="26" name="TextBox 26"/>
          <p:cNvSpPr txBox="1"/>
          <p:nvPr/>
        </p:nvSpPr>
        <p:spPr>
          <a:xfrm>
            <a:off x="13526574" y="5161502"/>
            <a:ext cx="3685393" cy="951923"/>
          </a:xfrm>
          <a:prstGeom prst="rect">
            <a:avLst/>
          </a:prstGeom>
        </p:spPr>
        <p:txBody>
          <a:bodyPr lIns="0" tIns="0" rIns="0" bIns="0" rtlCol="0" anchor="t">
            <a:spAutoFit/>
          </a:bodyPr>
          <a:lstStyle/>
          <a:p>
            <a:pPr algn="ctr">
              <a:lnSpc>
                <a:spcPts val="3646"/>
              </a:lnSpc>
            </a:pPr>
            <a:r>
              <a:rPr lang="en-US" sz="3646">
                <a:solidFill>
                  <a:srgbClr val="424848"/>
                </a:solidFill>
                <a:latin typeface="Candal"/>
                <a:ea typeface="Candal"/>
                <a:cs typeface="Candal"/>
                <a:sym typeface="Candal"/>
              </a:rPr>
              <a:t>Agricultural processes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FEE"/>
        </a:solidFill>
        <a:effectLst/>
      </p:bgPr>
    </p:bg>
    <p:spTree>
      <p:nvGrpSpPr>
        <p:cNvPr id="1" name=""/>
        <p:cNvGrpSpPr/>
        <p:nvPr/>
      </p:nvGrpSpPr>
      <p:grpSpPr>
        <a:xfrm>
          <a:off x="0" y="0"/>
          <a:ext cx="0" cy="0"/>
          <a:chOff x="0" y="0"/>
          <a:chExt cx="0" cy="0"/>
        </a:xfrm>
      </p:grpSpPr>
      <p:sp>
        <p:nvSpPr>
          <p:cNvPr id="2" name="Freeform 2"/>
          <p:cNvSpPr/>
          <p:nvPr/>
        </p:nvSpPr>
        <p:spPr>
          <a:xfrm>
            <a:off x="16070898" y="7451805"/>
            <a:ext cx="2995904" cy="3230877"/>
          </a:xfrm>
          <a:custGeom>
            <a:avLst/>
            <a:gdLst/>
            <a:ahLst/>
            <a:cxnLst/>
            <a:rect l="l" t="t" r="r" b="b"/>
            <a:pathLst>
              <a:path w="2995904" h="3230877">
                <a:moveTo>
                  <a:pt x="0" y="0"/>
                </a:moveTo>
                <a:lnTo>
                  <a:pt x="2995904" y="0"/>
                </a:lnTo>
                <a:lnTo>
                  <a:pt x="2995904" y="3230877"/>
                </a:lnTo>
                <a:lnTo>
                  <a:pt x="0" y="3230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820632" y="-453672"/>
            <a:ext cx="3467368" cy="3215196"/>
          </a:xfrm>
          <a:custGeom>
            <a:avLst/>
            <a:gdLst/>
            <a:ahLst/>
            <a:cxnLst/>
            <a:rect l="l" t="t" r="r" b="b"/>
            <a:pathLst>
              <a:path w="3467368" h="3215196">
                <a:moveTo>
                  <a:pt x="0" y="0"/>
                </a:moveTo>
                <a:lnTo>
                  <a:pt x="3467368" y="0"/>
                </a:lnTo>
                <a:lnTo>
                  <a:pt x="3467368" y="3215196"/>
                </a:lnTo>
                <a:lnTo>
                  <a:pt x="0" y="32151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739560">
            <a:off x="-799107" y="8229600"/>
            <a:ext cx="3261914" cy="4114800"/>
          </a:xfrm>
          <a:custGeom>
            <a:avLst/>
            <a:gdLst/>
            <a:ahLst/>
            <a:cxnLst/>
            <a:rect l="l" t="t" r="r" b="b"/>
            <a:pathLst>
              <a:path w="3261914" h="4114800">
                <a:moveTo>
                  <a:pt x="0" y="0"/>
                </a:moveTo>
                <a:lnTo>
                  <a:pt x="3261914" y="0"/>
                </a:lnTo>
                <a:lnTo>
                  <a:pt x="3261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51636" y="-316736"/>
            <a:ext cx="2566973" cy="2941323"/>
          </a:xfrm>
          <a:custGeom>
            <a:avLst/>
            <a:gdLst/>
            <a:ahLst/>
            <a:cxnLst/>
            <a:rect l="l" t="t" r="r" b="b"/>
            <a:pathLst>
              <a:path w="2566973" h="2941323">
                <a:moveTo>
                  <a:pt x="0" y="0"/>
                </a:moveTo>
                <a:lnTo>
                  <a:pt x="2566973" y="0"/>
                </a:lnTo>
                <a:lnTo>
                  <a:pt x="2566973" y="2941323"/>
                </a:lnTo>
                <a:lnTo>
                  <a:pt x="0" y="29413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2512377" y="820924"/>
            <a:ext cx="13263247" cy="1308077"/>
          </a:xfrm>
          <a:prstGeom prst="rect">
            <a:avLst/>
          </a:prstGeom>
        </p:spPr>
        <p:txBody>
          <a:bodyPr lIns="0" tIns="0" rIns="0" bIns="0" rtlCol="0" anchor="t">
            <a:spAutoFit/>
          </a:bodyPr>
          <a:lstStyle/>
          <a:p>
            <a:pPr algn="ctr">
              <a:lnSpc>
                <a:spcPts val="9876"/>
              </a:lnSpc>
            </a:pPr>
            <a:r>
              <a:rPr lang="en-US" sz="9876">
                <a:solidFill>
                  <a:srgbClr val="424848"/>
                </a:solidFill>
                <a:latin typeface="Candal"/>
                <a:ea typeface="Candal"/>
                <a:cs typeface="Candal"/>
                <a:sym typeface="Candal"/>
              </a:rPr>
              <a:t>VAHANSETU</a:t>
            </a:r>
          </a:p>
        </p:txBody>
      </p:sp>
      <p:sp>
        <p:nvSpPr>
          <p:cNvPr id="7" name="TextBox 7"/>
          <p:cNvSpPr txBox="1"/>
          <p:nvPr/>
        </p:nvSpPr>
        <p:spPr>
          <a:xfrm>
            <a:off x="2115337" y="2855039"/>
            <a:ext cx="8448861" cy="2808929"/>
          </a:xfrm>
          <a:prstGeom prst="rect">
            <a:avLst/>
          </a:prstGeom>
        </p:spPr>
        <p:txBody>
          <a:bodyPr lIns="0" tIns="0" rIns="0" bIns="0" rtlCol="0" anchor="t">
            <a:spAutoFit/>
          </a:bodyPr>
          <a:lstStyle/>
          <a:p>
            <a:pPr algn="l">
              <a:lnSpc>
                <a:spcPts val="3699"/>
              </a:lnSpc>
            </a:pPr>
            <a:r>
              <a:rPr lang="en-US" sz="3699">
                <a:solidFill>
                  <a:srgbClr val="000000"/>
                </a:solidFill>
                <a:latin typeface="Proxima Nova"/>
                <a:ea typeface="Proxima Nova"/>
                <a:cs typeface="Proxima Nova"/>
                <a:sym typeface="Proxima Nova"/>
              </a:rPr>
              <a:t>To demonstrate the project, we have created a live website.</a:t>
            </a:r>
          </a:p>
          <a:p>
            <a:pPr algn="l">
              <a:lnSpc>
                <a:spcPts val="3699"/>
              </a:lnSpc>
            </a:pPr>
            <a:r>
              <a:rPr lang="en-US" sz="3699">
                <a:solidFill>
                  <a:srgbClr val="000000"/>
                </a:solidFill>
                <a:latin typeface="Proxima Nova"/>
                <a:ea typeface="Proxima Nova"/>
                <a:cs typeface="Proxima Nova"/>
                <a:sym typeface="Proxima Nova"/>
              </a:rPr>
              <a:t>It shows simulated real-time PPM values along with a waveform graph.</a:t>
            </a:r>
          </a:p>
          <a:p>
            <a:pPr algn="l">
              <a:lnSpc>
                <a:spcPts val="3699"/>
              </a:lnSpc>
            </a:pPr>
            <a:r>
              <a:rPr lang="en-US" sz="3699">
                <a:solidFill>
                  <a:srgbClr val="000000"/>
                </a:solidFill>
                <a:latin typeface="Proxima Nova"/>
                <a:ea typeface="Proxima Nova"/>
                <a:cs typeface="Proxima Nova"/>
                <a:sym typeface="Proxima Nova"/>
              </a:rPr>
              <a:t> </a:t>
            </a:r>
          </a:p>
          <a:p>
            <a:pPr algn="l">
              <a:lnSpc>
                <a:spcPts val="3699"/>
              </a:lnSpc>
            </a:pPr>
            <a:endParaRPr lang="en-US" sz="3699">
              <a:solidFill>
                <a:srgbClr val="000000"/>
              </a:solidFill>
              <a:latin typeface="Proxima Nova"/>
              <a:ea typeface="Proxima Nova"/>
              <a:cs typeface="Proxima Nova"/>
              <a:sym typeface="Proxima Nova"/>
            </a:endParaRPr>
          </a:p>
        </p:txBody>
      </p:sp>
      <p:sp>
        <p:nvSpPr>
          <p:cNvPr id="8" name="TextBox 8"/>
          <p:cNvSpPr txBox="1"/>
          <p:nvPr/>
        </p:nvSpPr>
        <p:spPr>
          <a:xfrm>
            <a:off x="1902844" y="5119930"/>
            <a:ext cx="8448861" cy="2808929"/>
          </a:xfrm>
          <a:prstGeom prst="rect">
            <a:avLst/>
          </a:prstGeom>
        </p:spPr>
        <p:txBody>
          <a:bodyPr lIns="0" tIns="0" rIns="0" bIns="0" rtlCol="0" anchor="t">
            <a:spAutoFit/>
          </a:bodyPr>
          <a:lstStyle/>
          <a:p>
            <a:pPr algn="l">
              <a:lnSpc>
                <a:spcPts val="3699"/>
              </a:lnSpc>
            </a:pPr>
            <a:r>
              <a:rPr lang="en-US" sz="3699">
                <a:solidFill>
                  <a:srgbClr val="000000"/>
                </a:solidFill>
                <a:latin typeface="Proxima Nova"/>
                <a:ea typeface="Proxima Nova"/>
                <a:cs typeface="Proxima Nova"/>
                <a:sym typeface="Proxima Nova"/>
              </a:rPr>
              <a:t>One of the key features of the website is the live waveform graph, which visually represents pollution trends over time. This helps users observe patterns, spikes, and peak emission values clearly.</a:t>
            </a:r>
          </a:p>
          <a:p>
            <a:pPr algn="l">
              <a:lnSpc>
                <a:spcPts val="3699"/>
              </a:lnSpc>
            </a:pPr>
            <a:endParaRPr lang="en-US" sz="3699">
              <a:solidFill>
                <a:srgbClr val="000000"/>
              </a:solidFill>
              <a:latin typeface="Proxima Nova"/>
              <a:ea typeface="Proxima Nova"/>
              <a:cs typeface="Proxima Nova"/>
              <a:sym typeface="Proxima Nova"/>
            </a:endParaRPr>
          </a:p>
        </p:txBody>
      </p:sp>
      <p:pic>
        <p:nvPicPr>
          <p:cNvPr id="9" name="Picture 9"/>
          <p:cNvPicPr>
            <a:picLocks noChangeAspect="1"/>
          </p:cNvPicPr>
          <p:nvPr/>
        </p:nvPicPr>
        <p:blipFill>
          <a:blip r:embed="rId10"/>
          <a:stretch>
            <a:fillRect/>
          </a:stretch>
        </p:blipFill>
        <p:spPr>
          <a:xfrm>
            <a:off x="11544618" y="3766177"/>
            <a:ext cx="4937760" cy="4937760"/>
          </a:xfrm>
          <a:prstGeom prst="rect">
            <a:avLst/>
          </a:prstGeom>
        </p:spPr>
      </p:pic>
      <p:sp>
        <p:nvSpPr>
          <p:cNvPr id="10" name="TextBox 10"/>
          <p:cNvSpPr txBox="1"/>
          <p:nvPr/>
        </p:nvSpPr>
        <p:spPr>
          <a:xfrm>
            <a:off x="12090098" y="3167969"/>
            <a:ext cx="3846801" cy="708018"/>
          </a:xfrm>
          <a:prstGeom prst="rect">
            <a:avLst/>
          </a:prstGeom>
        </p:spPr>
        <p:txBody>
          <a:bodyPr lIns="0" tIns="0" rIns="0" bIns="0" rtlCol="0" anchor="t">
            <a:spAutoFit/>
          </a:bodyPr>
          <a:lstStyle/>
          <a:p>
            <a:pPr algn="ctr">
              <a:lnSpc>
                <a:spcPts val="5376"/>
              </a:lnSpc>
              <a:spcBef>
                <a:spcPct val="0"/>
              </a:spcBef>
            </a:pPr>
            <a:r>
              <a:rPr lang="en-US" sz="5376">
                <a:solidFill>
                  <a:srgbClr val="000000"/>
                </a:solidFill>
                <a:latin typeface="Candal"/>
                <a:ea typeface="Candal"/>
                <a:cs typeface="Candal"/>
                <a:sym typeface="Candal"/>
              </a:rPr>
              <a:t>SCAN THIS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FEE"/>
        </a:solidFill>
        <a:effectLst/>
      </p:bgPr>
    </p:bg>
    <p:spTree>
      <p:nvGrpSpPr>
        <p:cNvPr id="1" name=""/>
        <p:cNvGrpSpPr/>
        <p:nvPr/>
      </p:nvGrpSpPr>
      <p:grpSpPr>
        <a:xfrm>
          <a:off x="0" y="0"/>
          <a:ext cx="0" cy="0"/>
          <a:chOff x="0" y="0"/>
          <a:chExt cx="0" cy="0"/>
        </a:xfrm>
      </p:grpSpPr>
      <p:sp>
        <p:nvSpPr>
          <p:cNvPr id="2" name="Freeform 2"/>
          <p:cNvSpPr/>
          <p:nvPr/>
        </p:nvSpPr>
        <p:spPr>
          <a:xfrm>
            <a:off x="16070898" y="7451805"/>
            <a:ext cx="2995904" cy="3230877"/>
          </a:xfrm>
          <a:custGeom>
            <a:avLst/>
            <a:gdLst/>
            <a:ahLst/>
            <a:cxnLst/>
            <a:rect l="l" t="t" r="r" b="b"/>
            <a:pathLst>
              <a:path w="2995904" h="3230877">
                <a:moveTo>
                  <a:pt x="0" y="0"/>
                </a:moveTo>
                <a:lnTo>
                  <a:pt x="2995904" y="0"/>
                </a:lnTo>
                <a:lnTo>
                  <a:pt x="2995904" y="3230877"/>
                </a:lnTo>
                <a:lnTo>
                  <a:pt x="0" y="3230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820632" y="-453672"/>
            <a:ext cx="3467368" cy="3215196"/>
          </a:xfrm>
          <a:custGeom>
            <a:avLst/>
            <a:gdLst/>
            <a:ahLst/>
            <a:cxnLst/>
            <a:rect l="l" t="t" r="r" b="b"/>
            <a:pathLst>
              <a:path w="3467368" h="3215196">
                <a:moveTo>
                  <a:pt x="0" y="0"/>
                </a:moveTo>
                <a:lnTo>
                  <a:pt x="3467368" y="0"/>
                </a:lnTo>
                <a:lnTo>
                  <a:pt x="3467368" y="3215196"/>
                </a:lnTo>
                <a:lnTo>
                  <a:pt x="0" y="32151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739560">
            <a:off x="-799107" y="8229600"/>
            <a:ext cx="3261914" cy="4114800"/>
          </a:xfrm>
          <a:custGeom>
            <a:avLst/>
            <a:gdLst/>
            <a:ahLst/>
            <a:cxnLst/>
            <a:rect l="l" t="t" r="r" b="b"/>
            <a:pathLst>
              <a:path w="3261914" h="4114800">
                <a:moveTo>
                  <a:pt x="0" y="0"/>
                </a:moveTo>
                <a:lnTo>
                  <a:pt x="3261914" y="0"/>
                </a:lnTo>
                <a:lnTo>
                  <a:pt x="3261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51636" y="-316736"/>
            <a:ext cx="2566973" cy="2941323"/>
          </a:xfrm>
          <a:custGeom>
            <a:avLst/>
            <a:gdLst/>
            <a:ahLst/>
            <a:cxnLst/>
            <a:rect l="l" t="t" r="r" b="b"/>
            <a:pathLst>
              <a:path w="2566973" h="2941323">
                <a:moveTo>
                  <a:pt x="0" y="0"/>
                </a:moveTo>
                <a:lnTo>
                  <a:pt x="2566973" y="0"/>
                </a:lnTo>
                <a:lnTo>
                  <a:pt x="2566973" y="2941323"/>
                </a:lnTo>
                <a:lnTo>
                  <a:pt x="0" y="29413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2512377" y="469912"/>
            <a:ext cx="13263247" cy="1308077"/>
          </a:xfrm>
          <a:prstGeom prst="rect">
            <a:avLst/>
          </a:prstGeom>
        </p:spPr>
        <p:txBody>
          <a:bodyPr lIns="0" tIns="0" rIns="0" bIns="0" rtlCol="0" anchor="t">
            <a:spAutoFit/>
          </a:bodyPr>
          <a:lstStyle/>
          <a:p>
            <a:pPr algn="ctr">
              <a:lnSpc>
                <a:spcPts val="9876"/>
              </a:lnSpc>
            </a:pPr>
            <a:r>
              <a:rPr lang="en-US" sz="9876">
                <a:solidFill>
                  <a:srgbClr val="424848"/>
                </a:solidFill>
                <a:latin typeface="Candal"/>
                <a:ea typeface="Candal"/>
                <a:cs typeface="Candal"/>
                <a:sym typeface="Candal"/>
              </a:rPr>
              <a:t>VAHANSETU</a:t>
            </a:r>
          </a:p>
        </p:txBody>
      </p:sp>
      <p:sp>
        <p:nvSpPr>
          <p:cNvPr id="7" name="TextBox 7"/>
          <p:cNvSpPr txBox="1"/>
          <p:nvPr/>
        </p:nvSpPr>
        <p:spPr>
          <a:xfrm>
            <a:off x="831850" y="2233530"/>
            <a:ext cx="16737000" cy="6552879"/>
          </a:xfrm>
          <a:prstGeom prst="rect">
            <a:avLst/>
          </a:prstGeom>
        </p:spPr>
        <p:txBody>
          <a:bodyPr lIns="0" tIns="0" rIns="0" bIns="0" rtlCol="0" anchor="t">
            <a:spAutoFit/>
          </a:bodyPr>
          <a:lstStyle/>
          <a:p>
            <a:pPr algn="l">
              <a:lnSpc>
                <a:spcPts val="3707"/>
              </a:lnSpc>
            </a:pPr>
            <a:r>
              <a:rPr lang="en-US" sz="3707">
                <a:solidFill>
                  <a:srgbClr val="000000"/>
                </a:solidFill>
                <a:latin typeface="Proxima Nova"/>
                <a:ea typeface="Proxima Nova"/>
                <a:cs typeface="Proxima Nova"/>
                <a:sym typeface="Proxima Nova"/>
              </a:rPr>
              <a:t>It firsts asks new user to create their account. Existing user have to login</a:t>
            </a:r>
          </a:p>
          <a:p>
            <a:pPr algn="l">
              <a:lnSpc>
                <a:spcPts val="3707"/>
              </a:lnSpc>
            </a:pPr>
            <a:r>
              <a:rPr lang="en-US" sz="3707">
                <a:solidFill>
                  <a:srgbClr val="000000"/>
                </a:solidFill>
                <a:latin typeface="Proxima Nova"/>
                <a:ea typeface="Proxima Nova"/>
                <a:cs typeface="Proxima Nova"/>
                <a:sym typeface="Proxima Nova"/>
              </a:rPr>
              <a:t>In which user should add email and password.</a:t>
            </a:r>
          </a:p>
          <a:p>
            <a:pPr algn="l">
              <a:lnSpc>
                <a:spcPts val="3707"/>
              </a:lnSpc>
            </a:pPr>
            <a:r>
              <a:rPr lang="en-US" sz="3707">
                <a:solidFill>
                  <a:srgbClr val="000000"/>
                </a:solidFill>
                <a:latin typeface="Proxima Nova"/>
                <a:ea typeface="Proxima Nova"/>
                <a:cs typeface="Proxima Nova"/>
                <a:sym typeface="Proxima Nova"/>
              </a:rPr>
              <a:t>Then it opens a page where user has to enter their name,mobile number,vehicle number,aadhar number.</a:t>
            </a:r>
          </a:p>
          <a:p>
            <a:pPr algn="l">
              <a:lnSpc>
                <a:spcPts val="3707"/>
              </a:lnSpc>
            </a:pPr>
            <a:r>
              <a:rPr lang="en-US" sz="3707">
                <a:solidFill>
                  <a:srgbClr val="000000"/>
                </a:solidFill>
                <a:latin typeface="Proxima Nova"/>
                <a:ea typeface="Proxima Nova"/>
                <a:cs typeface="Proxima Nova"/>
                <a:sym typeface="Proxima Nova"/>
              </a:rPr>
              <a:t>t shows simulated real-time PPM values along with a waveform graph.</a:t>
            </a:r>
          </a:p>
          <a:p>
            <a:pPr algn="l">
              <a:lnSpc>
                <a:spcPts val="3707"/>
              </a:lnSpc>
            </a:pPr>
            <a:r>
              <a:rPr lang="en-US" sz="3707">
                <a:solidFill>
                  <a:srgbClr val="000000"/>
                </a:solidFill>
                <a:latin typeface="Proxima Nova"/>
                <a:ea typeface="Proxima Nova"/>
                <a:cs typeface="Proxima Nova"/>
                <a:sym typeface="Proxima Nova"/>
              </a:rPr>
              <a:t>One of the key features of the website is the live waveform graph, which visually represents pollution trends over time. This helps users observe patterns, spikes, and peak emission values clearly.</a:t>
            </a:r>
          </a:p>
          <a:p>
            <a:pPr algn="l">
              <a:lnSpc>
                <a:spcPts val="3707"/>
              </a:lnSpc>
            </a:pPr>
            <a:r>
              <a:rPr lang="en-US" sz="3707">
                <a:solidFill>
                  <a:srgbClr val="000000"/>
                </a:solidFill>
                <a:latin typeface="Proxima Nova"/>
                <a:ea typeface="Proxima Nova"/>
                <a:cs typeface="Proxima Nova"/>
                <a:sym typeface="Proxima Nova"/>
              </a:rPr>
              <a:t>It also shows the user their paid fines and pending fines which they have to pay.</a:t>
            </a:r>
          </a:p>
          <a:p>
            <a:pPr algn="l">
              <a:lnSpc>
                <a:spcPts val="3707"/>
              </a:lnSpc>
            </a:pPr>
            <a:r>
              <a:rPr lang="en-US" sz="3707">
                <a:solidFill>
                  <a:srgbClr val="000000"/>
                </a:solidFill>
                <a:latin typeface="Proxima Nova"/>
                <a:ea typeface="Proxima Nova"/>
                <a:cs typeface="Proxima Nova"/>
                <a:sym typeface="Proxima Nova"/>
              </a:rPr>
              <a:t>It creates a receipt for fine that has been paid.</a:t>
            </a:r>
          </a:p>
          <a:p>
            <a:pPr algn="l">
              <a:lnSpc>
                <a:spcPts val="3707"/>
              </a:lnSpc>
            </a:pPr>
            <a:r>
              <a:rPr lang="en-US" sz="3707">
                <a:solidFill>
                  <a:srgbClr val="000000"/>
                </a:solidFill>
                <a:latin typeface="Proxima Nova"/>
                <a:ea typeface="Proxima Nova"/>
                <a:cs typeface="Proxima Nova"/>
                <a:sym typeface="Proxima Nova"/>
              </a:rPr>
              <a:t>Payement can be done through card,netbanking,etc.</a:t>
            </a:r>
          </a:p>
          <a:p>
            <a:pPr algn="l">
              <a:lnSpc>
                <a:spcPts val="3707"/>
              </a:lnSpc>
            </a:pPr>
            <a:endParaRPr lang="en-US" sz="3707">
              <a:solidFill>
                <a:srgbClr val="000000"/>
              </a:solidFill>
              <a:latin typeface="Proxima Nova"/>
              <a:ea typeface="Proxima Nova"/>
              <a:cs typeface="Proxima Nova"/>
              <a:sym typeface="Proxima Nova"/>
            </a:endParaRPr>
          </a:p>
          <a:p>
            <a:pPr algn="l">
              <a:lnSpc>
                <a:spcPts val="3707"/>
              </a:lnSpc>
            </a:pPr>
            <a:endParaRPr lang="en-US" sz="3707">
              <a:solidFill>
                <a:srgbClr val="000000"/>
              </a:solidFill>
              <a:latin typeface="Proxima Nova"/>
              <a:ea typeface="Proxima Nova"/>
              <a:cs typeface="Proxima Nova"/>
              <a:sym typeface="Proxima Nova"/>
            </a:endParaRPr>
          </a:p>
          <a:p>
            <a:pPr algn="l">
              <a:lnSpc>
                <a:spcPts val="3707"/>
              </a:lnSpc>
            </a:pPr>
            <a:endParaRPr lang="en-US" sz="3707">
              <a:solidFill>
                <a:srgbClr val="000000"/>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EFEE"/>
        </a:solidFill>
        <a:effectLst/>
      </p:bgPr>
    </p:bg>
    <p:spTree>
      <p:nvGrpSpPr>
        <p:cNvPr id="1" name=""/>
        <p:cNvGrpSpPr/>
        <p:nvPr/>
      </p:nvGrpSpPr>
      <p:grpSpPr>
        <a:xfrm>
          <a:off x="0" y="0"/>
          <a:ext cx="0" cy="0"/>
          <a:chOff x="0" y="0"/>
          <a:chExt cx="0" cy="0"/>
        </a:xfrm>
      </p:grpSpPr>
      <p:sp>
        <p:nvSpPr>
          <p:cNvPr id="2" name="Freeform 2"/>
          <p:cNvSpPr/>
          <p:nvPr/>
        </p:nvSpPr>
        <p:spPr>
          <a:xfrm>
            <a:off x="16070898" y="7451805"/>
            <a:ext cx="2995904" cy="3230877"/>
          </a:xfrm>
          <a:custGeom>
            <a:avLst/>
            <a:gdLst/>
            <a:ahLst/>
            <a:cxnLst/>
            <a:rect l="l" t="t" r="r" b="b"/>
            <a:pathLst>
              <a:path w="2995904" h="3230877">
                <a:moveTo>
                  <a:pt x="0" y="0"/>
                </a:moveTo>
                <a:lnTo>
                  <a:pt x="2995904" y="0"/>
                </a:lnTo>
                <a:lnTo>
                  <a:pt x="2995904" y="3230877"/>
                </a:lnTo>
                <a:lnTo>
                  <a:pt x="0" y="3230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820632" y="-453672"/>
            <a:ext cx="3467368" cy="3215196"/>
          </a:xfrm>
          <a:custGeom>
            <a:avLst/>
            <a:gdLst/>
            <a:ahLst/>
            <a:cxnLst/>
            <a:rect l="l" t="t" r="r" b="b"/>
            <a:pathLst>
              <a:path w="3467368" h="3215196">
                <a:moveTo>
                  <a:pt x="0" y="0"/>
                </a:moveTo>
                <a:lnTo>
                  <a:pt x="3467368" y="0"/>
                </a:lnTo>
                <a:lnTo>
                  <a:pt x="3467368" y="3215196"/>
                </a:lnTo>
                <a:lnTo>
                  <a:pt x="0" y="32151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739560">
            <a:off x="-799107" y="8229600"/>
            <a:ext cx="3261914" cy="4114800"/>
          </a:xfrm>
          <a:custGeom>
            <a:avLst/>
            <a:gdLst/>
            <a:ahLst/>
            <a:cxnLst/>
            <a:rect l="l" t="t" r="r" b="b"/>
            <a:pathLst>
              <a:path w="3261914" h="4114800">
                <a:moveTo>
                  <a:pt x="0" y="0"/>
                </a:moveTo>
                <a:lnTo>
                  <a:pt x="3261914" y="0"/>
                </a:lnTo>
                <a:lnTo>
                  <a:pt x="3261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51636" y="-316736"/>
            <a:ext cx="2566973" cy="2941323"/>
          </a:xfrm>
          <a:custGeom>
            <a:avLst/>
            <a:gdLst/>
            <a:ahLst/>
            <a:cxnLst/>
            <a:rect l="l" t="t" r="r" b="b"/>
            <a:pathLst>
              <a:path w="2566973" h="2941323">
                <a:moveTo>
                  <a:pt x="0" y="0"/>
                </a:moveTo>
                <a:lnTo>
                  <a:pt x="2566973" y="0"/>
                </a:lnTo>
                <a:lnTo>
                  <a:pt x="2566973" y="2941323"/>
                </a:lnTo>
                <a:lnTo>
                  <a:pt x="0" y="29413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2115337" y="2045983"/>
            <a:ext cx="13100633" cy="7212317"/>
          </a:xfrm>
          <a:custGeom>
            <a:avLst/>
            <a:gdLst/>
            <a:ahLst/>
            <a:cxnLst/>
            <a:rect l="l" t="t" r="r" b="b"/>
            <a:pathLst>
              <a:path w="13100633" h="7212317">
                <a:moveTo>
                  <a:pt x="0" y="0"/>
                </a:moveTo>
                <a:lnTo>
                  <a:pt x="13100633" y="0"/>
                </a:lnTo>
                <a:lnTo>
                  <a:pt x="13100633" y="7212317"/>
                </a:lnTo>
                <a:lnTo>
                  <a:pt x="0" y="7212317"/>
                </a:lnTo>
                <a:lnTo>
                  <a:pt x="0" y="0"/>
                </a:lnTo>
                <a:close/>
              </a:path>
            </a:pathLst>
          </a:custGeom>
          <a:blipFill>
            <a:blip r:embed="rId10"/>
            <a:stretch>
              <a:fillRect/>
            </a:stretch>
          </a:blipFill>
        </p:spPr>
      </p:sp>
      <p:sp>
        <p:nvSpPr>
          <p:cNvPr id="7" name="TextBox 7"/>
          <p:cNvSpPr txBox="1"/>
          <p:nvPr/>
        </p:nvSpPr>
        <p:spPr>
          <a:xfrm>
            <a:off x="2512377" y="-145286"/>
            <a:ext cx="13263247" cy="1177935"/>
          </a:xfrm>
          <a:prstGeom prst="rect">
            <a:avLst/>
          </a:prstGeom>
        </p:spPr>
        <p:txBody>
          <a:bodyPr lIns="0" tIns="0" rIns="0" bIns="0" rtlCol="0" anchor="t">
            <a:spAutoFit/>
          </a:bodyPr>
          <a:lstStyle/>
          <a:p>
            <a:pPr algn="ctr">
              <a:lnSpc>
                <a:spcPts val="8876"/>
              </a:lnSpc>
            </a:pPr>
            <a:r>
              <a:rPr lang="en-US" sz="8876">
                <a:solidFill>
                  <a:srgbClr val="424848"/>
                </a:solidFill>
                <a:latin typeface="Candal"/>
                <a:ea typeface="Candal"/>
                <a:cs typeface="Candal"/>
                <a:sym typeface="Candal"/>
              </a:rPr>
              <a:t>Hardware Stack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FEE"/>
        </a:solidFill>
        <a:effectLst/>
      </p:bgPr>
    </p:bg>
    <p:spTree>
      <p:nvGrpSpPr>
        <p:cNvPr id="1" name=""/>
        <p:cNvGrpSpPr/>
        <p:nvPr/>
      </p:nvGrpSpPr>
      <p:grpSpPr>
        <a:xfrm>
          <a:off x="0" y="0"/>
          <a:ext cx="0" cy="0"/>
          <a:chOff x="0" y="0"/>
          <a:chExt cx="0" cy="0"/>
        </a:xfrm>
      </p:grpSpPr>
      <p:sp>
        <p:nvSpPr>
          <p:cNvPr id="2" name="Freeform 2"/>
          <p:cNvSpPr/>
          <p:nvPr/>
        </p:nvSpPr>
        <p:spPr>
          <a:xfrm>
            <a:off x="16070898" y="7451805"/>
            <a:ext cx="2995904" cy="3230877"/>
          </a:xfrm>
          <a:custGeom>
            <a:avLst/>
            <a:gdLst/>
            <a:ahLst/>
            <a:cxnLst/>
            <a:rect l="l" t="t" r="r" b="b"/>
            <a:pathLst>
              <a:path w="2995904" h="3230877">
                <a:moveTo>
                  <a:pt x="0" y="0"/>
                </a:moveTo>
                <a:lnTo>
                  <a:pt x="2995904" y="0"/>
                </a:lnTo>
                <a:lnTo>
                  <a:pt x="2995904" y="3230877"/>
                </a:lnTo>
                <a:lnTo>
                  <a:pt x="0" y="3230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820632" y="-453672"/>
            <a:ext cx="3467368" cy="3215196"/>
          </a:xfrm>
          <a:custGeom>
            <a:avLst/>
            <a:gdLst/>
            <a:ahLst/>
            <a:cxnLst/>
            <a:rect l="l" t="t" r="r" b="b"/>
            <a:pathLst>
              <a:path w="3467368" h="3215196">
                <a:moveTo>
                  <a:pt x="0" y="0"/>
                </a:moveTo>
                <a:lnTo>
                  <a:pt x="3467368" y="0"/>
                </a:lnTo>
                <a:lnTo>
                  <a:pt x="3467368" y="3215196"/>
                </a:lnTo>
                <a:lnTo>
                  <a:pt x="0" y="32151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739560">
            <a:off x="-799107" y="8229600"/>
            <a:ext cx="3261914" cy="4114800"/>
          </a:xfrm>
          <a:custGeom>
            <a:avLst/>
            <a:gdLst/>
            <a:ahLst/>
            <a:cxnLst/>
            <a:rect l="l" t="t" r="r" b="b"/>
            <a:pathLst>
              <a:path w="3261914" h="4114800">
                <a:moveTo>
                  <a:pt x="0" y="0"/>
                </a:moveTo>
                <a:lnTo>
                  <a:pt x="3261914" y="0"/>
                </a:lnTo>
                <a:lnTo>
                  <a:pt x="3261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51636" y="-316736"/>
            <a:ext cx="2566973" cy="2941323"/>
          </a:xfrm>
          <a:custGeom>
            <a:avLst/>
            <a:gdLst/>
            <a:ahLst/>
            <a:cxnLst/>
            <a:rect l="l" t="t" r="r" b="b"/>
            <a:pathLst>
              <a:path w="2566973" h="2941323">
                <a:moveTo>
                  <a:pt x="0" y="0"/>
                </a:moveTo>
                <a:lnTo>
                  <a:pt x="2566973" y="0"/>
                </a:lnTo>
                <a:lnTo>
                  <a:pt x="2566973" y="2941323"/>
                </a:lnTo>
                <a:lnTo>
                  <a:pt x="0" y="29413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2512377" y="200025"/>
            <a:ext cx="13263247" cy="1332314"/>
          </a:xfrm>
          <a:prstGeom prst="rect">
            <a:avLst/>
          </a:prstGeom>
        </p:spPr>
        <p:txBody>
          <a:bodyPr lIns="0" tIns="0" rIns="0" bIns="0" rtlCol="0" anchor="t">
            <a:spAutoFit/>
          </a:bodyPr>
          <a:lstStyle/>
          <a:p>
            <a:pPr algn="ctr">
              <a:lnSpc>
                <a:spcPts val="10076"/>
              </a:lnSpc>
            </a:pPr>
            <a:r>
              <a:rPr lang="en-US" sz="10076" u="sng">
                <a:solidFill>
                  <a:srgbClr val="424848"/>
                </a:solidFill>
                <a:latin typeface="Candal"/>
                <a:ea typeface="Candal"/>
                <a:cs typeface="Candal"/>
                <a:sym typeface="Candal"/>
              </a:rPr>
              <a:t>Components Used</a:t>
            </a:r>
          </a:p>
        </p:txBody>
      </p:sp>
      <p:sp>
        <p:nvSpPr>
          <p:cNvPr id="7" name="TextBox 7"/>
          <p:cNvSpPr txBox="1"/>
          <p:nvPr/>
        </p:nvSpPr>
        <p:spPr>
          <a:xfrm>
            <a:off x="666579" y="2284199"/>
            <a:ext cx="16592721" cy="6974101"/>
          </a:xfrm>
          <a:prstGeom prst="rect">
            <a:avLst/>
          </a:prstGeom>
        </p:spPr>
        <p:txBody>
          <a:bodyPr lIns="0" tIns="0" rIns="0" bIns="0" rtlCol="0" anchor="t">
            <a:spAutoFit/>
          </a:bodyPr>
          <a:lstStyle/>
          <a:p>
            <a:pPr algn="ctr">
              <a:lnSpc>
                <a:spcPts val="4223"/>
              </a:lnSpc>
            </a:pPr>
            <a:r>
              <a:rPr lang="en-US" sz="4223">
                <a:solidFill>
                  <a:srgbClr val="000000"/>
                </a:solidFill>
                <a:latin typeface="Candal"/>
                <a:ea typeface="Candal"/>
                <a:cs typeface="Candal"/>
                <a:sym typeface="Candal"/>
              </a:rPr>
              <a:t>This project uses simple and affordable components.</a:t>
            </a:r>
          </a:p>
          <a:p>
            <a:pPr marL="911879" lvl="1" indent="-455940" algn="ctr">
              <a:lnSpc>
                <a:spcPts val="4223"/>
              </a:lnSpc>
              <a:buFont typeface="Arial"/>
              <a:buChar char="•"/>
            </a:pPr>
            <a:r>
              <a:rPr lang="en-US" sz="4223">
                <a:solidFill>
                  <a:srgbClr val="000000"/>
                </a:solidFill>
                <a:latin typeface="Candal"/>
                <a:ea typeface="Candal"/>
                <a:cs typeface="Candal"/>
                <a:sym typeface="Candal"/>
              </a:rPr>
              <a:t>The ESP32-S acts as the brain of the system. It processes sensor data.</a:t>
            </a:r>
          </a:p>
          <a:p>
            <a:pPr marL="911879" lvl="1" indent="-455940" algn="ctr">
              <a:lnSpc>
                <a:spcPts val="4223"/>
              </a:lnSpc>
              <a:buFont typeface="Arial"/>
              <a:buChar char="•"/>
            </a:pPr>
            <a:r>
              <a:rPr lang="en-US" sz="4223">
                <a:solidFill>
                  <a:srgbClr val="000000"/>
                </a:solidFill>
                <a:latin typeface="Candal"/>
                <a:ea typeface="Candal"/>
                <a:cs typeface="Candal"/>
                <a:sym typeface="Candal"/>
              </a:rPr>
              <a:t>The MQ-2 gas sensor detects smoke and harmful gases like CO and LPG.</a:t>
            </a:r>
          </a:p>
          <a:p>
            <a:pPr marL="911879" lvl="1" indent="-455940" algn="ctr">
              <a:lnSpc>
                <a:spcPts val="4223"/>
              </a:lnSpc>
              <a:buFont typeface="Arial"/>
              <a:buChar char="•"/>
            </a:pPr>
            <a:r>
              <a:rPr lang="en-US" sz="4223">
                <a:solidFill>
                  <a:srgbClr val="000000"/>
                </a:solidFill>
                <a:latin typeface="Candal"/>
                <a:ea typeface="Candal"/>
                <a:cs typeface="Candal"/>
                <a:sym typeface="Candal"/>
              </a:rPr>
              <a:t>A 16×2 LCD display shows real-time readings.</a:t>
            </a:r>
          </a:p>
          <a:p>
            <a:pPr marL="911879" lvl="1" indent="-455940" algn="ctr">
              <a:lnSpc>
                <a:spcPts val="4223"/>
              </a:lnSpc>
              <a:buFont typeface="Arial"/>
              <a:buChar char="•"/>
            </a:pPr>
            <a:r>
              <a:rPr lang="en-US" sz="4223">
                <a:solidFill>
                  <a:srgbClr val="000000"/>
                </a:solidFill>
                <a:latin typeface="Candal"/>
                <a:ea typeface="Candal"/>
                <a:cs typeface="Candal"/>
                <a:sym typeface="Candal"/>
              </a:rPr>
              <a:t>A potentiometer is used to adjust the display contrast.</a:t>
            </a:r>
          </a:p>
          <a:p>
            <a:pPr marL="911879" lvl="1" indent="-455940" algn="ctr">
              <a:lnSpc>
                <a:spcPts val="4223"/>
              </a:lnSpc>
              <a:buFont typeface="Arial"/>
              <a:buChar char="•"/>
            </a:pPr>
            <a:r>
              <a:rPr lang="en-US" sz="4223">
                <a:solidFill>
                  <a:srgbClr val="000000"/>
                </a:solidFill>
                <a:latin typeface="Candal"/>
                <a:ea typeface="Candal"/>
                <a:cs typeface="Candal"/>
                <a:sym typeface="Candal"/>
              </a:rPr>
              <a:t>Breadboard and jumper wires are used for easy connections without soldering.</a:t>
            </a:r>
          </a:p>
          <a:p>
            <a:pPr algn="ctr">
              <a:lnSpc>
                <a:spcPts val="4223"/>
              </a:lnSpc>
            </a:pPr>
            <a:r>
              <a:rPr lang="en-US" sz="4223">
                <a:solidFill>
                  <a:srgbClr val="000000"/>
                </a:solidFill>
                <a:latin typeface="Candal"/>
                <a:ea typeface="Candal"/>
                <a:cs typeface="Candal"/>
                <a:sym typeface="Candal"/>
              </a:rPr>
              <a:t>All components are easily available and beginner-friendly.”</a:t>
            </a:r>
          </a:p>
          <a:p>
            <a:pPr algn="ctr">
              <a:lnSpc>
                <a:spcPts val="4223"/>
              </a:lnSpc>
              <a:spcBef>
                <a:spcPct val="0"/>
              </a:spcBef>
            </a:pPr>
            <a:endParaRPr lang="en-US" sz="4223">
              <a:solidFill>
                <a:srgbClr val="000000"/>
              </a:solidFill>
              <a:latin typeface="Candal"/>
              <a:ea typeface="Candal"/>
              <a:cs typeface="Candal"/>
              <a:sym typeface="Cand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DEFEE"/>
        </a:solidFill>
        <a:effectLst/>
      </p:bgPr>
    </p:bg>
    <p:spTree>
      <p:nvGrpSpPr>
        <p:cNvPr id="1" name=""/>
        <p:cNvGrpSpPr/>
        <p:nvPr/>
      </p:nvGrpSpPr>
      <p:grpSpPr>
        <a:xfrm>
          <a:off x="0" y="0"/>
          <a:ext cx="0" cy="0"/>
          <a:chOff x="0" y="0"/>
          <a:chExt cx="0" cy="0"/>
        </a:xfrm>
      </p:grpSpPr>
      <p:sp>
        <p:nvSpPr>
          <p:cNvPr id="2" name="Freeform 2"/>
          <p:cNvSpPr/>
          <p:nvPr/>
        </p:nvSpPr>
        <p:spPr>
          <a:xfrm>
            <a:off x="16070898" y="7451805"/>
            <a:ext cx="2995904" cy="3230877"/>
          </a:xfrm>
          <a:custGeom>
            <a:avLst/>
            <a:gdLst/>
            <a:ahLst/>
            <a:cxnLst/>
            <a:rect l="l" t="t" r="r" b="b"/>
            <a:pathLst>
              <a:path w="2995904" h="3230877">
                <a:moveTo>
                  <a:pt x="0" y="0"/>
                </a:moveTo>
                <a:lnTo>
                  <a:pt x="2995904" y="0"/>
                </a:lnTo>
                <a:lnTo>
                  <a:pt x="2995904" y="3230877"/>
                </a:lnTo>
                <a:lnTo>
                  <a:pt x="0" y="3230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820632" y="-453672"/>
            <a:ext cx="3467368" cy="3215196"/>
          </a:xfrm>
          <a:custGeom>
            <a:avLst/>
            <a:gdLst/>
            <a:ahLst/>
            <a:cxnLst/>
            <a:rect l="l" t="t" r="r" b="b"/>
            <a:pathLst>
              <a:path w="3467368" h="3215196">
                <a:moveTo>
                  <a:pt x="0" y="0"/>
                </a:moveTo>
                <a:lnTo>
                  <a:pt x="3467368" y="0"/>
                </a:lnTo>
                <a:lnTo>
                  <a:pt x="3467368" y="3215196"/>
                </a:lnTo>
                <a:lnTo>
                  <a:pt x="0" y="32151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739560">
            <a:off x="-799107" y="8229600"/>
            <a:ext cx="3261914" cy="4114800"/>
          </a:xfrm>
          <a:custGeom>
            <a:avLst/>
            <a:gdLst/>
            <a:ahLst/>
            <a:cxnLst/>
            <a:rect l="l" t="t" r="r" b="b"/>
            <a:pathLst>
              <a:path w="3261914" h="4114800">
                <a:moveTo>
                  <a:pt x="0" y="0"/>
                </a:moveTo>
                <a:lnTo>
                  <a:pt x="3261914" y="0"/>
                </a:lnTo>
                <a:lnTo>
                  <a:pt x="3261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51636" y="-316736"/>
            <a:ext cx="2566973" cy="2941323"/>
          </a:xfrm>
          <a:custGeom>
            <a:avLst/>
            <a:gdLst/>
            <a:ahLst/>
            <a:cxnLst/>
            <a:rect l="l" t="t" r="r" b="b"/>
            <a:pathLst>
              <a:path w="2566973" h="2941323">
                <a:moveTo>
                  <a:pt x="0" y="0"/>
                </a:moveTo>
                <a:lnTo>
                  <a:pt x="2566973" y="0"/>
                </a:lnTo>
                <a:lnTo>
                  <a:pt x="2566973" y="2941323"/>
                </a:lnTo>
                <a:lnTo>
                  <a:pt x="0" y="29413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2807652" y="190500"/>
            <a:ext cx="13263247" cy="1308077"/>
          </a:xfrm>
          <a:prstGeom prst="rect">
            <a:avLst/>
          </a:prstGeom>
        </p:spPr>
        <p:txBody>
          <a:bodyPr lIns="0" tIns="0" rIns="0" bIns="0" rtlCol="0" anchor="t">
            <a:spAutoFit/>
          </a:bodyPr>
          <a:lstStyle/>
          <a:p>
            <a:pPr algn="ctr">
              <a:lnSpc>
                <a:spcPts val="9876"/>
              </a:lnSpc>
            </a:pPr>
            <a:r>
              <a:rPr lang="en-US" sz="9876">
                <a:solidFill>
                  <a:srgbClr val="424848"/>
                </a:solidFill>
                <a:latin typeface="Candal"/>
                <a:ea typeface="Candal"/>
                <a:cs typeface="Candal"/>
                <a:sym typeface="Candal"/>
              </a:rPr>
              <a:t>How It Works</a:t>
            </a:r>
          </a:p>
        </p:txBody>
      </p:sp>
      <p:sp>
        <p:nvSpPr>
          <p:cNvPr id="7" name="TextBox 7"/>
          <p:cNvSpPr txBox="1"/>
          <p:nvPr/>
        </p:nvSpPr>
        <p:spPr>
          <a:xfrm>
            <a:off x="0" y="2027298"/>
            <a:ext cx="18615296" cy="7693856"/>
          </a:xfrm>
          <a:prstGeom prst="rect">
            <a:avLst/>
          </a:prstGeom>
        </p:spPr>
        <p:txBody>
          <a:bodyPr lIns="0" tIns="0" rIns="0" bIns="0" rtlCol="0" anchor="t">
            <a:spAutoFit/>
          </a:bodyPr>
          <a:lstStyle/>
          <a:p>
            <a:pPr algn="l">
              <a:lnSpc>
                <a:spcPts val="3810"/>
              </a:lnSpc>
            </a:pPr>
            <a:r>
              <a:rPr lang="en-US" sz="3810">
                <a:solidFill>
                  <a:srgbClr val="424848"/>
                </a:solidFill>
                <a:latin typeface="Proxima Nova"/>
                <a:ea typeface="Proxima Nova"/>
                <a:cs typeface="Proxima Nova"/>
                <a:sym typeface="Proxima Nova"/>
              </a:rPr>
              <a:t>“</a:t>
            </a:r>
            <a:r>
              <a:rPr lang="en-US" sz="3810">
                <a:solidFill>
                  <a:srgbClr val="000000"/>
                </a:solidFill>
                <a:latin typeface="Proxima Nova"/>
                <a:ea typeface="Proxima Nova"/>
                <a:cs typeface="Proxima Nova"/>
                <a:sym typeface="Proxima Nova"/>
              </a:rPr>
              <a:t>Let’s understand how the system works step by step.</a:t>
            </a:r>
          </a:p>
          <a:p>
            <a:pPr algn="l">
              <a:lnSpc>
                <a:spcPts val="3810"/>
              </a:lnSpc>
            </a:pPr>
            <a:r>
              <a:rPr lang="en-US" sz="3810">
                <a:solidFill>
                  <a:srgbClr val="000000"/>
                </a:solidFill>
                <a:latin typeface="Proxima Nova"/>
                <a:ea typeface="Proxima Nova"/>
                <a:cs typeface="Proxima Nova"/>
                <a:sym typeface="Proxima Nova"/>
              </a:rPr>
              <a:t>First, the MQ-2 sensor needs about 60 seconds to heat up and calibrate itself in clean air. This helps it set a baseline value called Ro.</a:t>
            </a:r>
          </a:p>
          <a:p>
            <a:pPr algn="l">
              <a:lnSpc>
                <a:spcPts val="3810"/>
              </a:lnSpc>
            </a:pPr>
            <a:r>
              <a:rPr lang="en-US" sz="3810">
                <a:solidFill>
                  <a:srgbClr val="000000"/>
                </a:solidFill>
                <a:latin typeface="Proxima Nova"/>
                <a:ea typeface="Proxima Nova"/>
                <a:cs typeface="Proxima Nova"/>
                <a:sym typeface="Proxima Nova"/>
              </a:rPr>
              <a:t>After that, the ESP32 reads analog signals from the sensor every 50 milliseconds.</a:t>
            </a:r>
          </a:p>
          <a:p>
            <a:pPr algn="l">
              <a:lnSpc>
                <a:spcPts val="3810"/>
              </a:lnSpc>
            </a:pPr>
            <a:r>
              <a:rPr lang="en-US" sz="3810">
                <a:solidFill>
                  <a:srgbClr val="000000"/>
                </a:solidFill>
                <a:latin typeface="Proxima Nova"/>
                <a:ea typeface="Proxima Nova"/>
                <a:cs typeface="Proxima Nova"/>
                <a:sym typeface="Proxima Nova"/>
              </a:rPr>
              <a:t>These signals are converted into PPM values using a mathematical formula.</a:t>
            </a:r>
          </a:p>
          <a:p>
            <a:pPr algn="l">
              <a:lnSpc>
                <a:spcPts val="3810"/>
              </a:lnSpc>
            </a:pPr>
            <a:r>
              <a:rPr lang="en-US" sz="3810">
                <a:solidFill>
                  <a:srgbClr val="000000"/>
                </a:solidFill>
                <a:latin typeface="Proxima Nova"/>
                <a:ea typeface="Proxima Nova"/>
                <a:cs typeface="Proxima Nova"/>
                <a:sym typeface="Proxima Nova"/>
              </a:rPr>
              <a:t>To make readings stable, we use a smoothing technique called Exponential Moving Average.</a:t>
            </a:r>
          </a:p>
          <a:p>
            <a:pPr algn="l">
              <a:lnSpc>
                <a:spcPts val="3810"/>
              </a:lnSpc>
            </a:pPr>
            <a:r>
              <a:rPr lang="en-US" sz="3810">
                <a:solidFill>
                  <a:srgbClr val="000000"/>
                </a:solidFill>
                <a:latin typeface="Proxima Nova"/>
                <a:ea typeface="Proxima Nova"/>
                <a:cs typeface="Proxima Nova"/>
                <a:sym typeface="Proxima Nova"/>
              </a:rPr>
              <a:t>The system also detects spikes — if the pollution suddenly becomes twice the normal value, it flags it as a spike.</a:t>
            </a:r>
          </a:p>
          <a:p>
            <a:pPr algn="l">
              <a:lnSpc>
                <a:spcPts val="3810"/>
              </a:lnSpc>
            </a:pPr>
            <a:r>
              <a:rPr lang="en-US" sz="3810">
                <a:solidFill>
                  <a:srgbClr val="000000"/>
                </a:solidFill>
                <a:latin typeface="Proxima Nova"/>
                <a:ea typeface="Proxima Nova"/>
                <a:cs typeface="Proxima Nova"/>
                <a:sym typeface="Proxima Nova"/>
              </a:rPr>
              <a:t>This helps identify sudden emission bursts from vehicles.”</a:t>
            </a:r>
          </a:p>
          <a:p>
            <a:pPr marL="822680" lvl="1" indent="-411340" algn="l">
              <a:lnSpc>
                <a:spcPts val="3810"/>
              </a:lnSpc>
              <a:buFont typeface="Arial"/>
              <a:buChar char="•"/>
            </a:pPr>
            <a:r>
              <a:rPr lang="en-US" sz="3810">
                <a:solidFill>
                  <a:srgbClr val="000000"/>
                </a:solidFill>
                <a:latin typeface="Proxima Nova"/>
                <a:ea typeface="Proxima Nova"/>
                <a:cs typeface="Proxima Nova"/>
                <a:sym typeface="Proxima Nova"/>
              </a:rPr>
              <a:t>The LCD screen shows all important information in real time.</a:t>
            </a:r>
          </a:p>
          <a:p>
            <a:pPr marL="822680" lvl="1" indent="-411340" algn="l">
              <a:lnSpc>
                <a:spcPts val="3810"/>
              </a:lnSpc>
              <a:buFont typeface="Arial"/>
              <a:buChar char="•"/>
            </a:pPr>
            <a:r>
              <a:rPr lang="en-US" sz="3810">
                <a:solidFill>
                  <a:srgbClr val="000000"/>
                </a:solidFill>
                <a:latin typeface="Proxima Nova"/>
                <a:ea typeface="Proxima Nova"/>
                <a:cs typeface="Proxima Nova"/>
                <a:sym typeface="Proxima Nova"/>
              </a:rPr>
              <a:t>It shows EMI,PEAK AND SPIKES</a:t>
            </a:r>
          </a:p>
          <a:p>
            <a:pPr marL="822680" lvl="1" indent="-411340" algn="l">
              <a:lnSpc>
                <a:spcPts val="3810"/>
              </a:lnSpc>
              <a:buFont typeface="Arial"/>
              <a:buChar char="•"/>
            </a:pPr>
            <a:r>
              <a:rPr lang="en-US" sz="3810">
                <a:solidFill>
                  <a:srgbClr val="000000"/>
                </a:solidFill>
                <a:latin typeface="Proxima Nova"/>
                <a:ea typeface="Proxima Nova"/>
                <a:cs typeface="Proxima Nova"/>
                <a:sym typeface="Proxima Nova"/>
              </a:rPr>
              <a:t>PEAK means highest amount of emission in the testing time</a:t>
            </a:r>
          </a:p>
          <a:p>
            <a:pPr marL="822680" lvl="1" indent="-411340" algn="l">
              <a:lnSpc>
                <a:spcPts val="3810"/>
              </a:lnSpc>
              <a:buFont typeface="Arial"/>
              <a:buChar char="•"/>
            </a:pPr>
            <a:r>
              <a:rPr lang="en-US" sz="3810">
                <a:solidFill>
                  <a:srgbClr val="000000"/>
                </a:solidFill>
                <a:latin typeface="Proxima Nova"/>
                <a:ea typeface="Proxima Nova"/>
                <a:cs typeface="Proxima Nova"/>
                <a:sym typeface="Proxima Nova"/>
              </a:rPr>
              <a:t>SPIKE means how many peaks have been reached.</a:t>
            </a:r>
          </a:p>
          <a:p>
            <a:pPr algn="l">
              <a:lnSpc>
                <a:spcPts val="3810"/>
              </a:lnSpc>
            </a:pPr>
            <a:endParaRPr lang="en-US" sz="3810">
              <a:solidFill>
                <a:srgbClr val="000000"/>
              </a:solidFill>
              <a:latin typeface="Proxima Nova"/>
              <a:ea typeface="Proxima Nova"/>
              <a:cs typeface="Proxima Nova"/>
              <a:sym typeface="Proxima Nova"/>
            </a:endParaRPr>
          </a:p>
          <a:p>
            <a:pPr algn="l">
              <a:lnSpc>
                <a:spcPts val="3708"/>
              </a:lnSpc>
            </a:pPr>
            <a:endParaRPr lang="en-US" sz="3810">
              <a:solidFill>
                <a:srgbClr val="000000"/>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DEFEE"/>
        </a:solidFill>
        <a:effectLst/>
      </p:bgPr>
    </p:bg>
    <p:spTree>
      <p:nvGrpSpPr>
        <p:cNvPr id="1" name=""/>
        <p:cNvGrpSpPr/>
        <p:nvPr/>
      </p:nvGrpSpPr>
      <p:grpSpPr>
        <a:xfrm>
          <a:off x="0" y="0"/>
          <a:ext cx="0" cy="0"/>
          <a:chOff x="0" y="0"/>
          <a:chExt cx="0" cy="0"/>
        </a:xfrm>
      </p:grpSpPr>
      <p:sp>
        <p:nvSpPr>
          <p:cNvPr id="2" name="Freeform 2"/>
          <p:cNvSpPr/>
          <p:nvPr/>
        </p:nvSpPr>
        <p:spPr>
          <a:xfrm>
            <a:off x="16070898" y="7451805"/>
            <a:ext cx="2995904" cy="3230877"/>
          </a:xfrm>
          <a:custGeom>
            <a:avLst/>
            <a:gdLst/>
            <a:ahLst/>
            <a:cxnLst/>
            <a:rect l="l" t="t" r="r" b="b"/>
            <a:pathLst>
              <a:path w="2995904" h="3230877">
                <a:moveTo>
                  <a:pt x="0" y="0"/>
                </a:moveTo>
                <a:lnTo>
                  <a:pt x="2995904" y="0"/>
                </a:lnTo>
                <a:lnTo>
                  <a:pt x="2995904" y="3230877"/>
                </a:lnTo>
                <a:lnTo>
                  <a:pt x="0" y="3230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820632" y="-453672"/>
            <a:ext cx="3467368" cy="3215196"/>
          </a:xfrm>
          <a:custGeom>
            <a:avLst/>
            <a:gdLst/>
            <a:ahLst/>
            <a:cxnLst/>
            <a:rect l="l" t="t" r="r" b="b"/>
            <a:pathLst>
              <a:path w="3467368" h="3215196">
                <a:moveTo>
                  <a:pt x="0" y="0"/>
                </a:moveTo>
                <a:lnTo>
                  <a:pt x="3467368" y="0"/>
                </a:lnTo>
                <a:lnTo>
                  <a:pt x="3467368" y="3215196"/>
                </a:lnTo>
                <a:lnTo>
                  <a:pt x="0" y="32151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739560">
            <a:off x="-799107" y="8229600"/>
            <a:ext cx="3261914" cy="4114800"/>
          </a:xfrm>
          <a:custGeom>
            <a:avLst/>
            <a:gdLst/>
            <a:ahLst/>
            <a:cxnLst/>
            <a:rect l="l" t="t" r="r" b="b"/>
            <a:pathLst>
              <a:path w="3261914" h="4114800">
                <a:moveTo>
                  <a:pt x="0" y="0"/>
                </a:moveTo>
                <a:lnTo>
                  <a:pt x="3261914" y="0"/>
                </a:lnTo>
                <a:lnTo>
                  <a:pt x="3261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51636" y="-316736"/>
            <a:ext cx="2566973" cy="2941323"/>
          </a:xfrm>
          <a:custGeom>
            <a:avLst/>
            <a:gdLst/>
            <a:ahLst/>
            <a:cxnLst/>
            <a:rect l="l" t="t" r="r" b="b"/>
            <a:pathLst>
              <a:path w="2566973" h="2941323">
                <a:moveTo>
                  <a:pt x="0" y="0"/>
                </a:moveTo>
                <a:lnTo>
                  <a:pt x="2566973" y="0"/>
                </a:lnTo>
                <a:lnTo>
                  <a:pt x="2566973" y="2941323"/>
                </a:lnTo>
                <a:lnTo>
                  <a:pt x="0" y="29413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396593" y="2397376"/>
            <a:ext cx="9754680" cy="1721414"/>
          </a:xfrm>
          <a:custGeom>
            <a:avLst/>
            <a:gdLst/>
            <a:ahLst/>
            <a:cxnLst/>
            <a:rect l="l" t="t" r="r" b="b"/>
            <a:pathLst>
              <a:path w="9754680" h="1721414">
                <a:moveTo>
                  <a:pt x="0" y="0"/>
                </a:moveTo>
                <a:lnTo>
                  <a:pt x="9754680" y="0"/>
                </a:lnTo>
                <a:lnTo>
                  <a:pt x="9754680" y="1721414"/>
                </a:lnTo>
                <a:lnTo>
                  <a:pt x="0" y="1721414"/>
                </a:lnTo>
                <a:lnTo>
                  <a:pt x="0" y="0"/>
                </a:lnTo>
                <a:close/>
              </a:path>
            </a:pathLst>
          </a:custGeom>
          <a:blipFill>
            <a:blip r:embed="rId10"/>
            <a:stretch>
              <a:fillRect/>
            </a:stretch>
          </a:blipFill>
        </p:spPr>
      </p:sp>
      <p:sp>
        <p:nvSpPr>
          <p:cNvPr id="7" name="Freeform 7"/>
          <p:cNvSpPr/>
          <p:nvPr/>
        </p:nvSpPr>
        <p:spPr>
          <a:xfrm>
            <a:off x="396593" y="4397195"/>
            <a:ext cx="5920797" cy="2194778"/>
          </a:xfrm>
          <a:custGeom>
            <a:avLst/>
            <a:gdLst/>
            <a:ahLst/>
            <a:cxnLst/>
            <a:rect l="l" t="t" r="r" b="b"/>
            <a:pathLst>
              <a:path w="5920797" h="2194778">
                <a:moveTo>
                  <a:pt x="0" y="0"/>
                </a:moveTo>
                <a:lnTo>
                  <a:pt x="5920797" y="0"/>
                </a:lnTo>
                <a:lnTo>
                  <a:pt x="5920797" y="2194779"/>
                </a:lnTo>
                <a:lnTo>
                  <a:pt x="0" y="2194779"/>
                </a:lnTo>
                <a:lnTo>
                  <a:pt x="0" y="0"/>
                </a:lnTo>
                <a:close/>
              </a:path>
            </a:pathLst>
          </a:custGeom>
          <a:blipFill>
            <a:blip r:embed="rId11"/>
            <a:stretch>
              <a:fillRect/>
            </a:stretch>
          </a:blipFill>
        </p:spPr>
      </p:sp>
      <p:sp>
        <p:nvSpPr>
          <p:cNvPr id="8" name="Freeform 8"/>
          <p:cNvSpPr/>
          <p:nvPr/>
        </p:nvSpPr>
        <p:spPr>
          <a:xfrm>
            <a:off x="396593" y="6963427"/>
            <a:ext cx="7410453" cy="2601220"/>
          </a:xfrm>
          <a:custGeom>
            <a:avLst/>
            <a:gdLst/>
            <a:ahLst/>
            <a:cxnLst/>
            <a:rect l="l" t="t" r="r" b="b"/>
            <a:pathLst>
              <a:path w="7410453" h="2601220">
                <a:moveTo>
                  <a:pt x="0" y="0"/>
                </a:moveTo>
                <a:lnTo>
                  <a:pt x="7410453" y="0"/>
                </a:lnTo>
                <a:lnTo>
                  <a:pt x="7410453" y="2601220"/>
                </a:lnTo>
                <a:lnTo>
                  <a:pt x="0" y="2601220"/>
                </a:lnTo>
                <a:lnTo>
                  <a:pt x="0" y="0"/>
                </a:lnTo>
                <a:close/>
              </a:path>
            </a:pathLst>
          </a:custGeom>
          <a:blipFill>
            <a:blip r:embed="rId12"/>
            <a:stretch>
              <a:fillRect/>
            </a:stretch>
          </a:blipFill>
        </p:spPr>
      </p:sp>
      <p:sp>
        <p:nvSpPr>
          <p:cNvPr id="9" name="TextBox 9"/>
          <p:cNvSpPr txBox="1"/>
          <p:nvPr/>
        </p:nvSpPr>
        <p:spPr>
          <a:xfrm>
            <a:off x="4767955" y="342900"/>
            <a:ext cx="6662045" cy="1359346"/>
          </a:xfrm>
          <a:prstGeom prst="rect">
            <a:avLst/>
          </a:prstGeom>
        </p:spPr>
        <p:txBody>
          <a:bodyPr wrap="square" lIns="0" tIns="0" rIns="0" bIns="0" rtlCol="0" anchor="t">
            <a:spAutoFit/>
          </a:bodyPr>
          <a:lstStyle/>
          <a:p>
            <a:pPr algn="ctr">
              <a:lnSpc>
                <a:spcPts val="10596"/>
              </a:lnSpc>
              <a:spcBef>
                <a:spcPct val="0"/>
              </a:spcBef>
            </a:pPr>
            <a:r>
              <a:rPr lang="en-US" sz="10596" dirty="0">
                <a:solidFill>
                  <a:srgbClr val="424848"/>
                </a:solidFill>
                <a:latin typeface="Candal"/>
                <a:ea typeface="Candal"/>
                <a:cs typeface="Candal"/>
                <a:sym typeface="Candal"/>
              </a:rPr>
              <a:t>CONCEPT</a:t>
            </a:r>
          </a:p>
        </p:txBody>
      </p:sp>
      <p:sp>
        <p:nvSpPr>
          <p:cNvPr id="10" name="TextBox 10"/>
          <p:cNvSpPr txBox="1"/>
          <p:nvPr/>
        </p:nvSpPr>
        <p:spPr>
          <a:xfrm>
            <a:off x="6661190" y="4299335"/>
            <a:ext cx="8297980" cy="2118900"/>
          </a:xfrm>
          <a:prstGeom prst="rect">
            <a:avLst/>
          </a:prstGeom>
        </p:spPr>
        <p:txBody>
          <a:bodyPr lIns="0" tIns="0" rIns="0" bIns="0" rtlCol="0" anchor="t">
            <a:spAutoFit/>
          </a:bodyPr>
          <a:lstStyle/>
          <a:p>
            <a:pPr algn="l">
              <a:lnSpc>
                <a:spcPts val="3435"/>
              </a:lnSpc>
            </a:pPr>
            <a:endParaRPr/>
          </a:p>
          <a:p>
            <a:pPr marL="529759" lvl="1" indent="-264879" algn="l">
              <a:lnSpc>
                <a:spcPts val="3435"/>
              </a:lnSpc>
              <a:buFont typeface="Arial"/>
              <a:buChar char="•"/>
            </a:pPr>
            <a:r>
              <a:rPr lang="en-US" sz="2453">
                <a:solidFill>
                  <a:srgbClr val="000000"/>
                </a:solidFill>
                <a:latin typeface="Canva Sans"/>
                <a:ea typeface="Canva Sans"/>
                <a:cs typeface="Canva Sans"/>
                <a:sym typeface="Canva Sans"/>
              </a:rPr>
              <a:t>Rs​ = Sensor resistance in polluted air</a:t>
            </a:r>
          </a:p>
          <a:p>
            <a:pPr marL="529759" lvl="1" indent="-264879" algn="l">
              <a:lnSpc>
                <a:spcPts val="3435"/>
              </a:lnSpc>
              <a:buFont typeface="Arial"/>
              <a:buChar char="•"/>
            </a:pPr>
            <a:r>
              <a:rPr lang="en-US" sz="2453">
                <a:solidFill>
                  <a:srgbClr val="000000"/>
                </a:solidFill>
                <a:latin typeface="Canva Sans"/>
                <a:ea typeface="Canva Sans"/>
                <a:cs typeface="Canva Sans"/>
                <a:sym typeface="Canva Sans"/>
              </a:rPr>
              <a:t>Ro​ = Sensor resistance in clean air (calibrated value)</a:t>
            </a:r>
          </a:p>
          <a:p>
            <a:pPr marL="529759" lvl="1" indent="-264879" algn="l">
              <a:lnSpc>
                <a:spcPts val="3435"/>
              </a:lnSpc>
              <a:buFont typeface="Arial"/>
              <a:buChar char="•"/>
            </a:pPr>
            <a:r>
              <a:rPr lang="en-US" sz="2453">
                <a:solidFill>
                  <a:srgbClr val="000000"/>
                </a:solidFill>
                <a:latin typeface="Canva Sans"/>
                <a:ea typeface="Canva Sans"/>
                <a:cs typeface="Canva Sans"/>
                <a:sym typeface="Canva Sans"/>
              </a:rPr>
              <a:t>A, B = Constants (from MQ-2 datasheet graph)</a:t>
            </a:r>
          </a:p>
          <a:p>
            <a:pPr algn="l">
              <a:lnSpc>
                <a:spcPts val="3435"/>
              </a:lnSpc>
            </a:pPr>
            <a:endParaRPr lang="en-US" sz="2453">
              <a:solidFill>
                <a:srgbClr val="000000"/>
              </a:solidFill>
              <a:latin typeface="Canva Sans"/>
              <a:ea typeface="Canva Sans"/>
              <a:cs typeface="Canva Sans"/>
              <a:sym typeface="Canva Sans"/>
            </a:endParaRPr>
          </a:p>
        </p:txBody>
      </p:sp>
      <p:sp>
        <p:nvSpPr>
          <p:cNvPr id="11" name="TextBox 11"/>
          <p:cNvSpPr txBox="1"/>
          <p:nvPr/>
        </p:nvSpPr>
        <p:spPr>
          <a:xfrm>
            <a:off x="9139238" y="4546985"/>
            <a:ext cx="9525" cy="1402580"/>
          </a:xfrm>
          <a:prstGeom prst="rect">
            <a:avLst/>
          </a:prstGeom>
        </p:spPr>
        <p:txBody>
          <a:bodyPr lIns="0" tIns="0" rIns="0" bIns="0" rtlCol="0" anchor="t">
            <a:spAutoFit/>
          </a:bodyPr>
          <a:lstStyle/>
          <a:p>
            <a:pPr algn="ctr">
              <a:lnSpc>
                <a:spcPts val="10596"/>
              </a:lnSpc>
              <a:spcBef>
                <a:spcPct val="0"/>
              </a:spcBef>
            </a:pPr>
            <a:endParaRPr/>
          </a:p>
        </p:txBody>
      </p:sp>
      <p:sp>
        <p:nvSpPr>
          <p:cNvPr id="12" name="TextBox 12"/>
          <p:cNvSpPr txBox="1"/>
          <p:nvPr/>
        </p:nvSpPr>
        <p:spPr>
          <a:xfrm>
            <a:off x="8118845" y="6525299"/>
            <a:ext cx="8858926" cy="2980555"/>
          </a:xfrm>
          <a:prstGeom prst="rect">
            <a:avLst/>
          </a:prstGeom>
        </p:spPr>
        <p:txBody>
          <a:bodyPr lIns="0" tIns="0" rIns="0" bIns="0" rtlCol="0" anchor="t">
            <a:spAutoFit/>
          </a:bodyPr>
          <a:lstStyle/>
          <a:p>
            <a:pPr algn="l">
              <a:lnSpc>
                <a:spcPts val="4759"/>
              </a:lnSpc>
            </a:pPr>
            <a:endParaRPr/>
          </a:p>
          <a:p>
            <a:pPr marL="734059" lvl="1" indent="-367030" algn="l">
              <a:lnSpc>
                <a:spcPts val="4759"/>
              </a:lnSpc>
              <a:buFont typeface="Arial"/>
              <a:buChar char="•"/>
            </a:pPr>
            <a:r>
              <a:rPr lang="en-US" sz="3399">
                <a:solidFill>
                  <a:srgbClr val="000000"/>
                </a:solidFill>
                <a:latin typeface="Canva Sans"/>
                <a:ea typeface="Canva Sans"/>
                <a:cs typeface="Canva Sans"/>
                <a:sym typeface="Canva Sans"/>
              </a:rPr>
              <a:t>Vc​ = Supply voltage (usually 5V or 3.3V)</a:t>
            </a:r>
          </a:p>
          <a:p>
            <a:pPr marL="734059" lvl="1" indent="-367030" algn="l">
              <a:lnSpc>
                <a:spcPts val="4759"/>
              </a:lnSpc>
              <a:buFont typeface="Arial"/>
              <a:buChar char="•"/>
            </a:pPr>
            <a:r>
              <a:rPr lang="en-US" sz="3399">
                <a:solidFill>
                  <a:srgbClr val="000000"/>
                </a:solidFill>
                <a:latin typeface="Canva Sans"/>
                <a:ea typeface="Canva Sans"/>
                <a:cs typeface="Canva Sans"/>
                <a:sym typeface="Canva Sans"/>
              </a:rPr>
              <a:t>Vout​ = Analog output from sensor</a:t>
            </a:r>
          </a:p>
          <a:p>
            <a:pPr marL="734059" lvl="1" indent="-367030" algn="l">
              <a:lnSpc>
                <a:spcPts val="4759"/>
              </a:lnSpc>
              <a:buFont typeface="Arial"/>
              <a:buChar char="•"/>
            </a:pPr>
            <a:r>
              <a:rPr lang="en-US" sz="3399">
                <a:solidFill>
                  <a:srgbClr val="000000"/>
                </a:solidFill>
                <a:latin typeface="Canva Sans"/>
                <a:ea typeface="Canva Sans"/>
                <a:cs typeface="Canva Sans"/>
                <a:sym typeface="Canva Sans"/>
              </a:rPr>
              <a:t>RL​ = Load resistance (e.g., 10kΩ)</a:t>
            </a:r>
          </a:p>
          <a:p>
            <a:pPr algn="l">
              <a:lnSpc>
                <a:spcPts val="4759"/>
              </a:lnSpc>
            </a:pPr>
            <a:endParaRPr lang="en-US" sz="3399">
              <a:solidFill>
                <a:srgbClr val="000000"/>
              </a:solidFill>
              <a:latin typeface="Canva Sans"/>
              <a:ea typeface="Canva Sans"/>
              <a:cs typeface="Canva Sans"/>
              <a:sym typeface="Canva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EFEE"/>
        </a:solidFill>
        <a:effectLst/>
      </p:bgPr>
    </p:bg>
    <p:spTree>
      <p:nvGrpSpPr>
        <p:cNvPr id="1" name=""/>
        <p:cNvGrpSpPr/>
        <p:nvPr/>
      </p:nvGrpSpPr>
      <p:grpSpPr>
        <a:xfrm>
          <a:off x="0" y="0"/>
          <a:ext cx="0" cy="0"/>
          <a:chOff x="0" y="0"/>
          <a:chExt cx="0" cy="0"/>
        </a:xfrm>
      </p:grpSpPr>
      <p:sp>
        <p:nvSpPr>
          <p:cNvPr id="2" name="Freeform 2"/>
          <p:cNvSpPr/>
          <p:nvPr/>
        </p:nvSpPr>
        <p:spPr>
          <a:xfrm>
            <a:off x="16070898" y="7451805"/>
            <a:ext cx="2995904" cy="3230877"/>
          </a:xfrm>
          <a:custGeom>
            <a:avLst/>
            <a:gdLst/>
            <a:ahLst/>
            <a:cxnLst/>
            <a:rect l="l" t="t" r="r" b="b"/>
            <a:pathLst>
              <a:path w="2995904" h="3230877">
                <a:moveTo>
                  <a:pt x="0" y="0"/>
                </a:moveTo>
                <a:lnTo>
                  <a:pt x="2995904" y="0"/>
                </a:lnTo>
                <a:lnTo>
                  <a:pt x="2995904" y="3230877"/>
                </a:lnTo>
                <a:lnTo>
                  <a:pt x="0" y="3230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820632" y="-453672"/>
            <a:ext cx="3467368" cy="3215196"/>
          </a:xfrm>
          <a:custGeom>
            <a:avLst/>
            <a:gdLst/>
            <a:ahLst/>
            <a:cxnLst/>
            <a:rect l="l" t="t" r="r" b="b"/>
            <a:pathLst>
              <a:path w="3467368" h="3215196">
                <a:moveTo>
                  <a:pt x="0" y="0"/>
                </a:moveTo>
                <a:lnTo>
                  <a:pt x="3467368" y="0"/>
                </a:lnTo>
                <a:lnTo>
                  <a:pt x="3467368" y="3215196"/>
                </a:lnTo>
                <a:lnTo>
                  <a:pt x="0" y="32151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739560">
            <a:off x="-799107" y="8229600"/>
            <a:ext cx="3261914" cy="4114800"/>
          </a:xfrm>
          <a:custGeom>
            <a:avLst/>
            <a:gdLst/>
            <a:ahLst/>
            <a:cxnLst/>
            <a:rect l="l" t="t" r="r" b="b"/>
            <a:pathLst>
              <a:path w="3261914" h="4114800">
                <a:moveTo>
                  <a:pt x="0" y="0"/>
                </a:moveTo>
                <a:lnTo>
                  <a:pt x="3261914" y="0"/>
                </a:lnTo>
                <a:lnTo>
                  <a:pt x="3261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51636" y="-316736"/>
            <a:ext cx="2566973" cy="2941323"/>
          </a:xfrm>
          <a:custGeom>
            <a:avLst/>
            <a:gdLst/>
            <a:ahLst/>
            <a:cxnLst/>
            <a:rect l="l" t="t" r="r" b="b"/>
            <a:pathLst>
              <a:path w="2566973" h="2941323">
                <a:moveTo>
                  <a:pt x="0" y="0"/>
                </a:moveTo>
                <a:lnTo>
                  <a:pt x="2566973" y="0"/>
                </a:lnTo>
                <a:lnTo>
                  <a:pt x="2566973" y="2941323"/>
                </a:lnTo>
                <a:lnTo>
                  <a:pt x="0" y="29413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831850" y="3670545"/>
            <a:ext cx="16867446" cy="6306442"/>
          </a:xfrm>
          <a:prstGeom prst="rect">
            <a:avLst/>
          </a:prstGeom>
        </p:spPr>
        <p:txBody>
          <a:bodyPr lIns="0" tIns="0" rIns="0" bIns="0" rtlCol="0" anchor="t">
            <a:spAutoFit/>
          </a:bodyPr>
          <a:lstStyle/>
          <a:p>
            <a:pPr algn="l">
              <a:lnSpc>
                <a:spcPts val="4160"/>
              </a:lnSpc>
            </a:pPr>
            <a:r>
              <a:rPr lang="en-US" sz="4160">
                <a:solidFill>
                  <a:srgbClr val="000000"/>
                </a:solidFill>
                <a:latin typeface="Proxima Nova"/>
                <a:ea typeface="Proxima Nova"/>
                <a:cs typeface="Proxima Nova"/>
                <a:sym typeface="Proxima Nova"/>
              </a:rPr>
              <a:t>“The device should be placed close to the vehicle’s exhaust outlet, because this is where polluted gases are directly released.</a:t>
            </a:r>
          </a:p>
          <a:p>
            <a:pPr algn="l">
              <a:lnSpc>
                <a:spcPts val="4160"/>
              </a:lnSpc>
            </a:pPr>
            <a:r>
              <a:rPr lang="en-US" sz="4160">
                <a:solidFill>
                  <a:srgbClr val="000000"/>
                </a:solidFill>
                <a:latin typeface="Proxima Nova"/>
                <a:ea typeface="Proxima Nova"/>
                <a:cs typeface="Proxima Nova"/>
                <a:sym typeface="Proxima Nova"/>
              </a:rPr>
              <a:t>The MQ-2 gas sensor must be exposed to the exhaust smoke to accurately detect harmful gases like carbon monoxide and smoke particles.</a:t>
            </a:r>
          </a:p>
          <a:p>
            <a:pPr algn="l">
              <a:lnSpc>
                <a:spcPts val="4160"/>
              </a:lnSpc>
            </a:pPr>
            <a:r>
              <a:rPr lang="en-US" sz="4160">
                <a:solidFill>
                  <a:srgbClr val="000000"/>
                </a:solidFill>
                <a:latin typeface="Proxima Nova"/>
                <a:ea typeface="Proxima Nova"/>
                <a:cs typeface="Proxima Nova"/>
                <a:sym typeface="Proxima Nova"/>
              </a:rPr>
              <a:t>However, it should not be placed directly inside the exhaust pipe, because:</a:t>
            </a:r>
          </a:p>
          <a:p>
            <a:pPr marL="898170" lvl="1" indent="-449085" algn="l">
              <a:lnSpc>
                <a:spcPts val="4160"/>
              </a:lnSpc>
              <a:buFont typeface="Arial"/>
              <a:buChar char="•"/>
            </a:pPr>
            <a:r>
              <a:rPr lang="en-US" sz="4160">
                <a:solidFill>
                  <a:srgbClr val="000000"/>
                </a:solidFill>
                <a:latin typeface="Proxima Nova"/>
                <a:ea typeface="Proxima Nova"/>
                <a:cs typeface="Proxima Nova"/>
                <a:sym typeface="Proxima Nova"/>
              </a:rPr>
              <a:t>The temperature is very high</a:t>
            </a:r>
          </a:p>
          <a:p>
            <a:pPr marL="898170" lvl="1" indent="-449085" algn="l">
              <a:lnSpc>
                <a:spcPts val="4160"/>
              </a:lnSpc>
              <a:buFont typeface="Arial"/>
              <a:buChar char="•"/>
            </a:pPr>
            <a:r>
              <a:rPr lang="en-US" sz="4160">
                <a:solidFill>
                  <a:srgbClr val="000000"/>
                </a:solidFill>
                <a:latin typeface="Proxima Nova"/>
                <a:ea typeface="Proxima Nova"/>
                <a:cs typeface="Proxima Nova"/>
                <a:sym typeface="Proxima Nova"/>
              </a:rPr>
              <a:t>Direct heat can damage the sensor</a:t>
            </a:r>
          </a:p>
          <a:p>
            <a:pPr marL="898170" lvl="1" indent="-449085" algn="l">
              <a:lnSpc>
                <a:spcPts val="4160"/>
              </a:lnSpc>
              <a:buFont typeface="Arial"/>
              <a:buChar char="•"/>
            </a:pPr>
            <a:r>
              <a:rPr lang="en-US" sz="4160">
                <a:solidFill>
                  <a:srgbClr val="000000"/>
                </a:solidFill>
                <a:latin typeface="Proxima Nova"/>
                <a:ea typeface="Proxima Nova"/>
                <a:cs typeface="Proxima Nova"/>
                <a:sym typeface="Proxima Nova"/>
              </a:rPr>
              <a:t>Continuous strong airflow may give unstable readings</a:t>
            </a:r>
          </a:p>
          <a:p>
            <a:pPr algn="l">
              <a:lnSpc>
                <a:spcPts val="4160"/>
              </a:lnSpc>
            </a:pPr>
            <a:r>
              <a:rPr lang="en-US" sz="4160">
                <a:solidFill>
                  <a:srgbClr val="000000"/>
                </a:solidFill>
                <a:latin typeface="Proxima Nova"/>
                <a:ea typeface="Proxima Nova"/>
                <a:cs typeface="Proxima Nova"/>
                <a:sym typeface="Proxima Nova"/>
              </a:rPr>
              <a:t>So, the best position is slightly away from the exhaust outlet.”</a:t>
            </a:r>
          </a:p>
          <a:p>
            <a:pPr algn="l">
              <a:lnSpc>
                <a:spcPts val="4160"/>
              </a:lnSpc>
            </a:pPr>
            <a:endParaRPr lang="en-US" sz="4160">
              <a:solidFill>
                <a:srgbClr val="000000"/>
              </a:solidFill>
              <a:latin typeface="Proxima Nova"/>
              <a:ea typeface="Proxima Nova"/>
              <a:cs typeface="Proxima Nova"/>
              <a:sym typeface="Proxima Nova"/>
            </a:endParaRPr>
          </a:p>
        </p:txBody>
      </p:sp>
      <p:sp>
        <p:nvSpPr>
          <p:cNvPr id="7" name="TextBox 7"/>
          <p:cNvSpPr txBox="1"/>
          <p:nvPr/>
        </p:nvSpPr>
        <p:spPr>
          <a:xfrm>
            <a:off x="3866131" y="-80757"/>
            <a:ext cx="9881408" cy="2842281"/>
          </a:xfrm>
          <a:prstGeom prst="rect">
            <a:avLst/>
          </a:prstGeom>
        </p:spPr>
        <p:txBody>
          <a:bodyPr lIns="0" tIns="0" rIns="0" bIns="0" rtlCol="0" anchor="t">
            <a:spAutoFit/>
          </a:bodyPr>
          <a:lstStyle/>
          <a:p>
            <a:pPr algn="ctr">
              <a:lnSpc>
                <a:spcPts val="7358"/>
              </a:lnSpc>
            </a:pPr>
            <a:r>
              <a:rPr lang="en-US" sz="7358">
                <a:solidFill>
                  <a:srgbClr val="424848"/>
                </a:solidFill>
                <a:latin typeface="Candal"/>
                <a:ea typeface="Candal"/>
                <a:cs typeface="Candal"/>
                <a:sym typeface="Candal"/>
              </a:rPr>
              <a:t>Where to Attach the Device on Vehicle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DEFEE"/>
        </a:solidFill>
        <a:effectLst/>
      </p:bgPr>
    </p:bg>
    <p:spTree>
      <p:nvGrpSpPr>
        <p:cNvPr id="1" name=""/>
        <p:cNvGrpSpPr/>
        <p:nvPr/>
      </p:nvGrpSpPr>
      <p:grpSpPr>
        <a:xfrm>
          <a:off x="0" y="0"/>
          <a:ext cx="0" cy="0"/>
          <a:chOff x="0" y="0"/>
          <a:chExt cx="0" cy="0"/>
        </a:xfrm>
      </p:grpSpPr>
      <p:sp>
        <p:nvSpPr>
          <p:cNvPr id="2" name="Freeform 2"/>
          <p:cNvSpPr/>
          <p:nvPr/>
        </p:nvSpPr>
        <p:spPr>
          <a:xfrm>
            <a:off x="16070898" y="7451805"/>
            <a:ext cx="2995904" cy="3230877"/>
          </a:xfrm>
          <a:custGeom>
            <a:avLst/>
            <a:gdLst/>
            <a:ahLst/>
            <a:cxnLst/>
            <a:rect l="l" t="t" r="r" b="b"/>
            <a:pathLst>
              <a:path w="2995904" h="3230877">
                <a:moveTo>
                  <a:pt x="0" y="0"/>
                </a:moveTo>
                <a:lnTo>
                  <a:pt x="2995904" y="0"/>
                </a:lnTo>
                <a:lnTo>
                  <a:pt x="2995904" y="3230877"/>
                </a:lnTo>
                <a:lnTo>
                  <a:pt x="0" y="3230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820632" y="-453672"/>
            <a:ext cx="3467368" cy="3215196"/>
          </a:xfrm>
          <a:custGeom>
            <a:avLst/>
            <a:gdLst/>
            <a:ahLst/>
            <a:cxnLst/>
            <a:rect l="l" t="t" r="r" b="b"/>
            <a:pathLst>
              <a:path w="3467368" h="3215196">
                <a:moveTo>
                  <a:pt x="0" y="0"/>
                </a:moveTo>
                <a:lnTo>
                  <a:pt x="3467368" y="0"/>
                </a:lnTo>
                <a:lnTo>
                  <a:pt x="3467368" y="3215196"/>
                </a:lnTo>
                <a:lnTo>
                  <a:pt x="0" y="32151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739560">
            <a:off x="-799107" y="8229600"/>
            <a:ext cx="3261914" cy="4114800"/>
          </a:xfrm>
          <a:custGeom>
            <a:avLst/>
            <a:gdLst/>
            <a:ahLst/>
            <a:cxnLst/>
            <a:rect l="l" t="t" r="r" b="b"/>
            <a:pathLst>
              <a:path w="3261914" h="4114800">
                <a:moveTo>
                  <a:pt x="0" y="0"/>
                </a:moveTo>
                <a:lnTo>
                  <a:pt x="3261914" y="0"/>
                </a:lnTo>
                <a:lnTo>
                  <a:pt x="3261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51636" y="-316736"/>
            <a:ext cx="2566973" cy="2941323"/>
          </a:xfrm>
          <a:custGeom>
            <a:avLst/>
            <a:gdLst/>
            <a:ahLst/>
            <a:cxnLst/>
            <a:rect l="l" t="t" r="r" b="b"/>
            <a:pathLst>
              <a:path w="2566973" h="2941323">
                <a:moveTo>
                  <a:pt x="0" y="0"/>
                </a:moveTo>
                <a:lnTo>
                  <a:pt x="2566973" y="0"/>
                </a:lnTo>
                <a:lnTo>
                  <a:pt x="2566973" y="2941323"/>
                </a:lnTo>
                <a:lnTo>
                  <a:pt x="0" y="29413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3866131" y="-80757"/>
            <a:ext cx="9881408" cy="2842281"/>
          </a:xfrm>
          <a:prstGeom prst="rect">
            <a:avLst/>
          </a:prstGeom>
        </p:spPr>
        <p:txBody>
          <a:bodyPr lIns="0" tIns="0" rIns="0" bIns="0" rtlCol="0" anchor="t">
            <a:spAutoFit/>
          </a:bodyPr>
          <a:lstStyle/>
          <a:p>
            <a:pPr algn="ctr">
              <a:lnSpc>
                <a:spcPts val="7358"/>
              </a:lnSpc>
            </a:pPr>
            <a:r>
              <a:rPr lang="en-US" sz="7358">
                <a:solidFill>
                  <a:srgbClr val="424848"/>
                </a:solidFill>
                <a:latin typeface="Candal"/>
                <a:ea typeface="Candal"/>
                <a:cs typeface="Candal"/>
                <a:sym typeface="Candal"/>
              </a:rPr>
              <a:t>Where to Attach the Device on Vehicle</a:t>
            </a:r>
          </a:p>
        </p:txBody>
      </p:sp>
      <p:sp>
        <p:nvSpPr>
          <p:cNvPr id="7" name="TextBox 7"/>
          <p:cNvSpPr txBox="1"/>
          <p:nvPr/>
        </p:nvSpPr>
        <p:spPr>
          <a:xfrm>
            <a:off x="831850" y="3141305"/>
            <a:ext cx="16867446" cy="7001917"/>
          </a:xfrm>
          <a:prstGeom prst="rect">
            <a:avLst/>
          </a:prstGeom>
        </p:spPr>
        <p:txBody>
          <a:bodyPr lIns="0" tIns="0" rIns="0" bIns="0" rtlCol="0" anchor="t">
            <a:spAutoFit/>
          </a:bodyPr>
          <a:lstStyle/>
          <a:p>
            <a:pPr marL="898170" lvl="1" indent="-449085" algn="l">
              <a:lnSpc>
                <a:spcPts val="4160"/>
              </a:lnSpc>
              <a:buAutoNum type="arabicPeriod"/>
            </a:pPr>
            <a:r>
              <a:rPr lang="en-US" sz="4160" dirty="0">
                <a:solidFill>
                  <a:srgbClr val="000000"/>
                </a:solidFill>
                <a:latin typeface="Proxima Nova"/>
                <a:ea typeface="Proxima Nova"/>
                <a:cs typeface="Proxima Nova"/>
                <a:sym typeface="Proxima Nova"/>
              </a:rPr>
              <a:t>Near Exhaust Tip </a:t>
            </a:r>
          </a:p>
          <a:p>
            <a:pPr marL="898170" lvl="1" indent="-449085" algn="l">
              <a:lnSpc>
                <a:spcPts val="4160"/>
              </a:lnSpc>
              <a:buFont typeface="Arial"/>
              <a:buChar char="•"/>
            </a:pPr>
            <a:r>
              <a:rPr lang="en-US" sz="4160" dirty="0">
                <a:solidFill>
                  <a:srgbClr val="000000"/>
                </a:solidFill>
                <a:latin typeface="Proxima Nova"/>
                <a:ea typeface="Proxima Nova"/>
                <a:cs typeface="Proxima Nova"/>
                <a:sym typeface="Proxima Nova"/>
              </a:rPr>
              <a:t>Fix the sensor 2–5 cm away from the exhaust pipe</a:t>
            </a:r>
          </a:p>
          <a:p>
            <a:pPr marL="898170" lvl="1" indent="-449085" algn="l">
              <a:lnSpc>
                <a:spcPts val="4160"/>
              </a:lnSpc>
              <a:buFont typeface="Arial"/>
              <a:buChar char="•"/>
            </a:pPr>
            <a:r>
              <a:rPr lang="en-US" sz="4160" dirty="0">
                <a:solidFill>
                  <a:srgbClr val="000000"/>
                </a:solidFill>
                <a:latin typeface="Proxima Nova"/>
                <a:ea typeface="Proxima Nova"/>
                <a:cs typeface="Proxima Nova"/>
                <a:sym typeface="Proxima Nova"/>
              </a:rPr>
              <a:t>Use a small bracket or clamp</a:t>
            </a:r>
          </a:p>
          <a:p>
            <a:pPr marL="898170" lvl="1" indent="-449085" algn="l">
              <a:lnSpc>
                <a:spcPts val="4160"/>
              </a:lnSpc>
              <a:buFont typeface="Arial"/>
              <a:buChar char="•"/>
            </a:pPr>
            <a:r>
              <a:rPr lang="en-US" sz="4160" dirty="0">
                <a:solidFill>
                  <a:srgbClr val="000000"/>
                </a:solidFill>
                <a:latin typeface="Proxima Nova"/>
                <a:ea typeface="Proxima Nova"/>
                <a:cs typeface="Proxima Nova"/>
                <a:sym typeface="Proxima Nova"/>
              </a:rPr>
              <a:t>Ensures accurate and fast readings</a:t>
            </a:r>
          </a:p>
          <a:p>
            <a:pPr marL="898170" lvl="1" indent="-449085" algn="l">
              <a:lnSpc>
                <a:spcPts val="4160"/>
              </a:lnSpc>
              <a:buAutoNum type="arabicPeriod"/>
            </a:pPr>
            <a:r>
              <a:rPr lang="en-US" sz="4160" dirty="0">
                <a:solidFill>
                  <a:srgbClr val="000000"/>
                </a:solidFill>
                <a:latin typeface="Proxima Nova"/>
                <a:ea typeface="Proxima Nova"/>
                <a:cs typeface="Proxima Nova"/>
                <a:sym typeface="Proxima Nova"/>
              </a:rPr>
              <a:t>Rear Bumper Area</a:t>
            </a:r>
          </a:p>
          <a:p>
            <a:pPr marL="898170" lvl="1" indent="-449085" algn="l">
              <a:lnSpc>
                <a:spcPts val="4160"/>
              </a:lnSpc>
              <a:buFont typeface="Arial"/>
              <a:buChar char="•"/>
            </a:pPr>
            <a:r>
              <a:rPr lang="en-US" sz="4160" dirty="0">
                <a:solidFill>
                  <a:srgbClr val="000000"/>
                </a:solidFill>
                <a:latin typeface="Proxima Nova"/>
                <a:ea typeface="Proxima Nova"/>
                <a:cs typeface="Proxima Nova"/>
                <a:sym typeface="Proxima Nova"/>
              </a:rPr>
              <a:t>Mount under or near the rear bumper</a:t>
            </a:r>
          </a:p>
          <a:p>
            <a:pPr marL="898170" lvl="1" indent="-449085" algn="l">
              <a:lnSpc>
                <a:spcPts val="4160"/>
              </a:lnSpc>
              <a:buFont typeface="Arial"/>
              <a:buChar char="•"/>
            </a:pPr>
            <a:r>
              <a:rPr lang="en-US" sz="4160" dirty="0">
                <a:solidFill>
                  <a:srgbClr val="000000"/>
                </a:solidFill>
                <a:latin typeface="Proxima Nova"/>
                <a:ea typeface="Proxima Nova"/>
                <a:cs typeface="Proxima Nova"/>
                <a:sym typeface="Proxima Nova"/>
              </a:rPr>
              <a:t>Protects sensor from direct heat</a:t>
            </a:r>
          </a:p>
          <a:p>
            <a:pPr marL="898170" lvl="1" indent="-449085" algn="l">
              <a:lnSpc>
                <a:spcPts val="4160"/>
              </a:lnSpc>
              <a:buFont typeface="Arial"/>
              <a:buChar char="•"/>
            </a:pPr>
            <a:r>
              <a:rPr lang="en-US" sz="4160" dirty="0">
                <a:solidFill>
                  <a:srgbClr val="000000"/>
                </a:solidFill>
                <a:latin typeface="Proxima Nova"/>
                <a:ea typeface="Proxima Nova"/>
                <a:cs typeface="Proxima Nova"/>
                <a:sym typeface="Proxima Nova"/>
              </a:rPr>
              <a:t>Still captures exhaust gases effectively</a:t>
            </a:r>
          </a:p>
          <a:p>
            <a:pPr marL="898170" lvl="1" indent="-449085" algn="l">
              <a:lnSpc>
                <a:spcPts val="4160"/>
              </a:lnSpc>
              <a:buAutoNum type="arabicPeriod"/>
            </a:pPr>
            <a:r>
              <a:rPr lang="en-US" sz="4160" dirty="0">
                <a:solidFill>
                  <a:srgbClr val="000000"/>
                </a:solidFill>
                <a:latin typeface="Proxima Nova"/>
                <a:ea typeface="Proxima Nova"/>
                <a:cs typeface="Proxima Nova"/>
                <a:sym typeface="Proxima Nova"/>
              </a:rPr>
              <a:t>Inside Protective Case </a:t>
            </a:r>
          </a:p>
          <a:p>
            <a:pPr marL="898170" lvl="1" indent="-449085" algn="l">
              <a:lnSpc>
                <a:spcPts val="4160"/>
              </a:lnSpc>
              <a:buFont typeface="Arial"/>
              <a:buChar char="•"/>
            </a:pPr>
            <a:r>
              <a:rPr lang="en-US" sz="4160" dirty="0">
                <a:solidFill>
                  <a:srgbClr val="000000"/>
                </a:solidFill>
                <a:latin typeface="Proxima Nova"/>
                <a:ea typeface="Proxima Nova"/>
                <a:cs typeface="Proxima Nova"/>
                <a:sym typeface="Proxima Nova"/>
              </a:rPr>
              <a:t>Place ESP32 and LCD inside a small box</a:t>
            </a:r>
          </a:p>
          <a:p>
            <a:pPr marL="898170" lvl="1" indent="-449085" algn="l">
              <a:lnSpc>
                <a:spcPts val="4160"/>
              </a:lnSpc>
              <a:buFont typeface="Arial"/>
              <a:buChar char="•"/>
            </a:pPr>
            <a:r>
              <a:rPr lang="en-US" sz="4160" dirty="0">
                <a:solidFill>
                  <a:srgbClr val="000000"/>
                </a:solidFill>
                <a:latin typeface="Proxima Nova"/>
                <a:ea typeface="Proxima Nova"/>
                <a:cs typeface="Proxima Nova"/>
                <a:sym typeface="Proxima Nova"/>
              </a:rPr>
              <a:t>Only expose the MQ-2 sensor outside</a:t>
            </a:r>
          </a:p>
          <a:p>
            <a:pPr marL="898170" lvl="1" indent="-449085" algn="l">
              <a:lnSpc>
                <a:spcPts val="4160"/>
              </a:lnSpc>
              <a:buFont typeface="Arial"/>
              <a:buChar char="•"/>
            </a:pPr>
            <a:r>
              <a:rPr lang="en-US" sz="4160" dirty="0">
                <a:solidFill>
                  <a:srgbClr val="000000"/>
                </a:solidFill>
                <a:latin typeface="Proxima Nova"/>
                <a:ea typeface="Proxima Nova"/>
                <a:cs typeface="Proxima Nova"/>
                <a:sym typeface="Proxima Nova"/>
              </a:rPr>
              <a:t>Protects electronics from dust, water, and vibration</a:t>
            </a:r>
          </a:p>
          <a:p>
            <a:pPr algn="l">
              <a:lnSpc>
                <a:spcPts val="4160"/>
              </a:lnSpc>
            </a:pPr>
            <a:endParaRPr lang="en-US" sz="4160" dirty="0">
              <a:solidFill>
                <a:srgbClr val="000000"/>
              </a:solidFill>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DEFEE"/>
        </a:solidFill>
        <a:effectLst/>
      </p:bgPr>
    </p:bg>
    <p:spTree>
      <p:nvGrpSpPr>
        <p:cNvPr id="1" name=""/>
        <p:cNvGrpSpPr/>
        <p:nvPr/>
      </p:nvGrpSpPr>
      <p:grpSpPr>
        <a:xfrm>
          <a:off x="0" y="0"/>
          <a:ext cx="0" cy="0"/>
          <a:chOff x="0" y="0"/>
          <a:chExt cx="0" cy="0"/>
        </a:xfrm>
      </p:grpSpPr>
      <p:sp>
        <p:nvSpPr>
          <p:cNvPr id="2" name="Freeform 2"/>
          <p:cNvSpPr/>
          <p:nvPr/>
        </p:nvSpPr>
        <p:spPr>
          <a:xfrm>
            <a:off x="16070898" y="7451805"/>
            <a:ext cx="2995904" cy="3230877"/>
          </a:xfrm>
          <a:custGeom>
            <a:avLst/>
            <a:gdLst/>
            <a:ahLst/>
            <a:cxnLst/>
            <a:rect l="l" t="t" r="r" b="b"/>
            <a:pathLst>
              <a:path w="2995904" h="3230877">
                <a:moveTo>
                  <a:pt x="0" y="0"/>
                </a:moveTo>
                <a:lnTo>
                  <a:pt x="2995904" y="0"/>
                </a:lnTo>
                <a:lnTo>
                  <a:pt x="2995904" y="3230877"/>
                </a:lnTo>
                <a:lnTo>
                  <a:pt x="0" y="3230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820632" y="-453672"/>
            <a:ext cx="3467368" cy="3215196"/>
          </a:xfrm>
          <a:custGeom>
            <a:avLst/>
            <a:gdLst/>
            <a:ahLst/>
            <a:cxnLst/>
            <a:rect l="l" t="t" r="r" b="b"/>
            <a:pathLst>
              <a:path w="3467368" h="3215196">
                <a:moveTo>
                  <a:pt x="0" y="0"/>
                </a:moveTo>
                <a:lnTo>
                  <a:pt x="3467368" y="0"/>
                </a:lnTo>
                <a:lnTo>
                  <a:pt x="3467368" y="3215196"/>
                </a:lnTo>
                <a:lnTo>
                  <a:pt x="0" y="32151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739560">
            <a:off x="-799107" y="8229600"/>
            <a:ext cx="3261914" cy="4114800"/>
          </a:xfrm>
          <a:custGeom>
            <a:avLst/>
            <a:gdLst/>
            <a:ahLst/>
            <a:cxnLst/>
            <a:rect l="l" t="t" r="r" b="b"/>
            <a:pathLst>
              <a:path w="3261914" h="4114800">
                <a:moveTo>
                  <a:pt x="0" y="0"/>
                </a:moveTo>
                <a:lnTo>
                  <a:pt x="3261914" y="0"/>
                </a:lnTo>
                <a:lnTo>
                  <a:pt x="3261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51636" y="-316736"/>
            <a:ext cx="2566973" cy="2941323"/>
          </a:xfrm>
          <a:custGeom>
            <a:avLst/>
            <a:gdLst/>
            <a:ahLst/>
            <a:cxnLst/>
            <a:rect l="l" t="t" r="r" b="b"/>
            <a:pathLst>
              <a:path w="2566973" h="2941323">
                <a:moveTo>
                  <a:pt x="0" y="0"/>
                </a:moveTo>
                <a:lnTo>
                  <a:pt x="2566973" y="0"/>
                </a:lnTo>
                <a:lnTo>
                  <a:pt x="2566973" y="2941323"/>
                </a:lnTo>
                <a:lnTo>
                  <a:pt x="0" y="29413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2864413" y="190500"/>
            <a:ext cx="13263247" cy="5051239"/>
          </a:xfrm>
          <a:prstGeom prst="rect">
            <a:avLst/>
          </a:prstGeom>
        </p:spPr>
        <p:txBody>
          <a:bodyPr lIns="0" tIns="0" rIns="0" bIns="0" rtlCol="0" anchor="t">
            <a:spAutoFit/>
          </a:bodyPr>
          <a:lstStyle/>
          <a:p>
            <a:pPr algn="ctr">
              <a:lnSpc>
                <a:spcPts val="9876"/>
              </a:lnSpc>
            </a:pPr>
            <a:r>
              <a:rPr lang="en-US" sz="9876">
                <a:solidFill>
                  <a:srgbClr val="424848"/>
                </a:solidFill>
                <a:latin typeface="Candal"/>
                <a:ea typeface="Candal"/>
                <a:cs typeface="Candal"/>
                <a:sym typeface="Candal"/>
              </a:rPr>
              <a:t>Advantages</a:t>
            </a:r>
          </a:p>
          <a:p>
            <a:pPr algn="ctr">
              <a:lnSpc>
                <a:spcPts val="9876"/>
              </a:lnSpc>
            </a:pPr>
            <a:r>
              <a:rPr lang="en-US" sz="9876">
                <a:solidFill>
                  <a:srgbClr val="424848"/>
                </a:solidFill>
                <a:latin typeface="Candal"/>
                <a:ea typeface="Candal"/>
                <a:cs typeface="Candal"/>
                <a:sym typeface="Candal"/>
              </a:rPr>
              <a:t>Why This Project Stands Out</a:t>
            </a:r>
          </a:p>
          <a:p>
            <a:pPr algn="ctr">
              <a:lnSpc>
                <a:spcPts val="9876"/>
              </a:lnSpc>
            </a:pPr>
            <a:endParaRPr lang="en-US" sz="9876">
              <a:solidFill>
                <a:srgbClr val="424848"/>
              </a:solidFill>
              <a:latin typeface="Candal"/>
              <a:ea typeface="Candal"/>
              <a:cs typeface="Candal"/>
              <a:sym typeface="Candal"/>
            </a:endParaRPr>
          </a:p>
        </p:txBody>
      </p:sp>
      <p:sp>
        <p:nvSpPr>
          <p:cNvPr id="7" name="TextBox 7"/>
          <p:cNvSpPr txBox="1"/>
          <p:nvPr/>
        </p:nvSpPr>
        <p:spPr>
          <a:xfrm>
            <a:off x="1541264" y="4303045"/>
            <a:ext cx="16746736" cy="5219580"/>
          </a:xfrm>
          <a:prstGeom prst="rect">
            <a:avLst/>
          </a:prstGeom>
        </p:spPr>
        <p:txBody>
          <a:bodyPr lIns="0" tIns="0" rIns="0" bIns="0" rtlCol="0" anchor="t">
            <a:spAutoFit/>
          </a:bodyPr>
          <a:lstStyle/>
          <a:p>
            <a:pPr algn="l">
              <a:lnSpc>
                <a:spcPts val="4578"/>
              </a:lnSpc>
            </a:pPr>
            <a:r>
              <a:rPr lang="en-US" sz="4578">
                <a:solidFill>
                  <a:srgbClr val="000000"/>
                </a:solidFill>
                <a:latin typeface="Proxima Nova"/>
                <a:ea typeface="Proxima Nova"/>
                <a:cs typeface="Proxima Nova"/>
                <a:sym typeface="Proxima Nova"/>
              </a:rPr>
              <a:t>“This project has several strong advantages.</a:t>
            </a:r>
          </a:p>
          <a:p>
            <a:pPr algn="l">
              <a:lnSpc>
                <a:spcPts val="4578"/>
              </a:lnSpc>
            </a:pPr>
            <a:r>
              <a:rPr lang="en-US" sz="4578">
                <a:solidFill>
                  <a:srgbClr val="000000"/>
                </a:solidFill>
                <a:latin typeface="Proxima Nova"/>
                <a:ea typeface="Proxima Nova"/>
                <a:cs typeface="Proxima Nova"/>
                <a:sym typeface="Proxima Nova"/>
              </a:rPr>
              <a:t>First, it is extremely low-cost — only ₹700.</a:t>
            </a:r>
          </a:p>
          <a:p>
            <a:pPr algn="l">
              <a:lnSpc>
                <a:spcPts val="4578"/>
              </a:lnSpc>
            </a:pPr>
            <a:r>
              <a:rPr lang="en-US" sz="4578">
                <a:solidFill>
                  <a:srgbClr val="000000"/>
                </a:solidFill>
                <a:latin typeface="Proxima Nova"/>
                <a:ea typeface="Proxima Nova"/>
                <a:cs typeface="Proxima Nova"/>
                <a:sym typeface="Proxima Nova"/>
              </a:rPr>
              <a:t>Second, it provides continuous real-time monitoring, unlike traditional PUC checks.</a:t>
            </a:r>
          </a:p>
          <a:p>
            <a:pPr algn="l">
              <a:lnSpc>
                <a:spcPts val="4578"/>
              </a:lnSpc>
            </a:pPr>
            <a:r>
              <a:rPr lang="en-US" sz="4578">
                <a:solidFill>
                  <a:srgbClr val="000000"/>
                </a:solidFill>
                <a:latin typeface="Proxima Nova"/>
                <a:ea typeface="Proxima Nova"/>
                <a:cs typeface="Proxima Nova"/>
                <a:sym typeface="Proxima Nova"/>
              </a:rPr>
              <a:t>It automatically calibrates itself, so no manual setup is required.</a:t>
            </a:r>
          </a:p>
          <a:p>
            <a:pPr algn="l">
              <a:lnSpc>
                <a:spcPts val="4578"/>
              </a:lnSpc>
            </a:pPr>
            <a:r>
              <a:rPr lang="en-US" sz="4578">
                <a:solidFill>
                  <a:srgbClr val="000000"/>
                </a:solidFill>
                <a:latin typeface="Proxima Nova"/>
                <a:ea typeface="Proxima Nova"/>
                <a:cs typeface="Proxima Nova"/>
                <a:sym typeface="Proxima Nova"/>
              </a:rPr>
              <a:t>It can detect sudden spikes, which many systems ignore.</a:t>
            </a:r>
          </a:p>
          <a:p>
            <a:pPr algn="l">
              <a:lnSpc>
                <a:spcPts val="4578"/>
              </a:lnSpc>
            </a:pPr>
            <a:r>
              <a:rPr lang="en-US" sz="4578">
                <a:solidFill>
                  <a:srgbClr val="000000"/>
                </a:solidFill>
                <a:latin typeface="Proxima Nova"/>
                <a:ea typeface="Proxima Nova"/>
                <a:cs typeface="Proxima Nova"/>
                <a:sym typeface="Proxima Nova"/>
              </a:rPr>
              <a:t>Also, it works completely offline, making it portable and easy to use anywhere.”</a:t>
            </a:r>
          </a:p>
          <a:p>
            <a:pPr algn="l">
              <a:lnSpc>
                <a:spcPts val="4578"/>
              </a:lnSpc>
            </a:pPr>
            <a:endParaRPr lang="en-US" sz="4578">
              <a:solidFill>
                <a:srgbClr val="000000"/>
              </a:solidFill>
              <a:latin typeface="Proxima Nova"/>
              <a:ea typeface="Proxima Nova"/>
              <a:cs typeface="Proxima Nova"/>
              <a:sym typeface="Proxima Nova"/>
            </a:endParaRPr>
          </a:p>
        </p:txBody>
      </p:sp>
      <p:sp>
        <p:nvSpPr>
          <p:cNvPr id="8" name="TextBox 8"/>
          <p:cNvSpPr txBox="1"/>
          <p:nvPr/>
        </p:nvSpPr>
        <p:spPr>
          <a:xfrm>
            <a:off x="2377359" y="7017499"/>
            <a:ext cx="13533281" cy="412061"/>
          </a:xfrm>
          <a:prstGeom prst="rect">
            <a:avLst/>
          </a:prstGeom>
        </p:spPr>
        <p:txBody>
          <a:bodyPr lIns="0" tIns="0" rIns="0" bIns="0" rtlCol="0" anchor="t">
            <a:spAutoFit/>
          </a:bodyPr>
          <a:lstStyle/>
          <a:p>
            <a:pPr marL="669291" lvl="1" indent="-334646" algn="l">
              <a:lnSpc>
                <a:spcPts val="3100"/>
              </a:lnSpc>
              <a:buFont typeface="Arial"/>
              <a:buChar char="•"/>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DEFEE"/>
        </a:solidFill>
        <a:effectLst/>
      </p:bgPr>
    </p:bg>
    <p:spTree>
      <p:nvGrpSpPr>
        <p:cNvPr id="1" name=""/>
        <p:cNvGrpSpPr/>
        <p:nvPr/>
      </p:nvGrpSpPr>
      <p:grpSpPr>
        <a:xfrm>
          <a:off x="0" y="0"/>
          <a:ext cx="0" cy="0"/>
          <a:chOff x="0" y="0"/>
          <a:chExt cx="0" cy="0"/>
        </a:xfrm>
      </p:grpSpPr>
      <p:sp>
        <p:nvSpPr>
          <p:cNvPr id="2" name="Freeform 2"/>
          <p:cNvSpPr/>
          <p:nvPr/>
        </p:nvSpPr>
        <p:spPr>
          <a:xfrm>
            <a:off x="16070898" y="7451805"/>
            <a:ext cx="2995904" cy="3230877"/>
          </a:xfrm>
          <a:custGeom>
            <a:avLst/>
            <a:gdLst/>
            <a:ahLst/>
            <a:cxnLst/>
            <a:rect l="l" t="t" r="r" b="b"/>
            <a:pathLst>
              <a:path w="2995904" h="3230877">
                <a:moveTo>
                  <a:pt x="0" y="0"/>
                </a:moveTo>
                <a:lnTo>
                  <a:pt x="2995904" y="0"/>
                </a:lnTo>
                <a:lnTo>
                  <a:pt x="2995904" y="3230877"/>
                </a:lnTo>
                <a:lnTo>
                  <a:pt x="0" y="3230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820632" y="-453672"/>
            <a:ext cx="3467368" cy="3215196"/>
          </a:xfrm>
          <a:custGeom>
            <a:avLst/>
            <a:gdLst/>
            <a:ahLst/>
            <a:cxnLst/>
            <a:rect l="l" t="t" r="r" b="b"/>
            <a:pathLst>
              <a:path w="3467368" h="3215196">
                <a:moveTo>
                  <a:pt x="0" y="0"/>
                </a:moveTo>
                <a:lnTo>
                  <a:pt x="3467368" y="0"/>
                </a:lnTo>
                <a:lnTo>
                  <a:pt x="3467368" y="3215196"/>
                </a:lnTo>
                <a:lnTo>
                  <a:pt x="0" y="32151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739560">
            <a:off x="-799107" y="8229600"/>
            <a:ext cx="3261914" cy="4114800"/>
          </a:xfrm>
          <a:custGeom>
            <a:avLst/>
            <a:gdLst/>
            <a:ahLst/>
            <a:cxnLst/>
            <a:rect l="l" t="t" r="r" b="b"/>
            <a:pathLst>
              <a:path w="3261914" h="4114800">
                <a:moveTo>
                  <a:pt x="0" y="0"/>
                </a:moveTo>
                <a:lnTo>
                  <a:pt x="3261914" y="0"/>
                </a:lnTo>
                <a:lnTo>
                  <a:pt x="326191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51636" y="-316736"/>
            <a:ext cx="2566973" cy="2941323"/>
          </a:xfrm>
          <a:custGeom>
            <a:avLst/>
            <a:gdLst/>
            <a:ahLst/>
            <a:cxnLst/>
            <a:rect l="l" t="t" r="r" b="b"/>
            <a:pathLst>
              <a:path w="2566973" h="2941323">
                <a:moveTo>
                  <a:pt x="0" y="0"/>
                </a:moveTo>
                <a:lnTo>
                  <a:pt x="2566973" y="0"/>
                </a:lnTo>
                <a:lnTo>
                  <a:pt x="2566973" y="2941323"/>
                </a:lnTo>
                <a:lnTo>
                  <a:pt x="0" y="29413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477217" y="1416681"/>
            <a:ext cx="17597154" cy="8659596"/>
          </a:xfrm>
          <a:custGeom>
            <a:avLst/>
            <a:gdLst/>
            <a:ahLst/>
            <a:cxnLst/>
            <a:rect l="l" t="t" r="r" b="b"/>
            <a:pathLst>
              <a:path w="17597154" h="8659596">
                <a:moveTo>
                  <a:pt x="0" y="0"/>
                </a:moveTo>
                <a:lnTo>
                  <a:pt x="17597154" y="0"/>
                </a:lnTo>
                <a:lnTo>
                  <a:pt x="17597154" y="8659596"/>
                </a:lnTo>
                <a:lnTo>
                  <a:pt x="0" y="8659596"/>
                </a:lnTo>
                <a:lnTo>
                  <a:pt x="0" y="0"/>
                </a:lnTo>
                <a:close/>
              </a:path>
            </a:pathLst>
          </a:custGeom>
          <a:blipFill>
            <a:blip r:embed="rId10"/>
            <a:stretch>
              <a:fillRect/>
            </a:stretch>
          </a:blipFill>
        </p:spPr>
      </p:sp>
      <p:sp>
        <p:nvSpPr>
          <p:cNvPr id="7" name="TextBox 7"/>
          <p:cNvSpPr txBox="1"/>
          <p:nvPr/>
        </p:nvSpPr>
        <p:spPr>
          <a:xfrm>
            <a:off x="2512377" y="-126236"/>
            <a:ext cx="13263247" cy="1308077"/>
          </a:xfrm>
          <a:prstGeom prst="rect">
            <a:avLst/>
          </a:prstGeom>
        </p:spPr>
        <p:txBody>
          <a:bodyPr lIns="0" tIns="0" rIns="0" bIns="0" rtlCol="0" anchor="t">
            <a:spAutoFit/>
          </a:bodyPr>
          <a:lstStyle/>
          <a:p>
            <a:pPr algn="ctr">
              <a:lnSpc>
                <a:spcPts val="9876"/>
              </a:lnSpc>
            </a:pPr>
            <a:r>
              <a:rPr lang="en-US" sz="9876">
                <a:solidFill>
                  <a:srgbClr val="424848"/>
                </a:solidFill>
                <a:latin typeface="Candal"/>
                <a:ea typeface="Candal"/>
                <a:cs typeface="Candal"/>
                <a:sym typeface="Candal"/>
              </a:rPr>
              <a:t>Cost Analysis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DEFEE"/>
        </a:solidFill>
        <a:effectLst/>
      </p:bgPr>
    </p:bg>
    <p:spTree>
      <p:nvGrpSpPr>
        <p:cNvPr id="1" name=""/>
        <p:cNvGrpSpPr/>
        <p:nvPr/>
      </p:nvGrpSpPr>
      <p:grpSpPr>
        <a:xfrm>
          <a:off x="0" y="0"/>
          <a:ext cx="0" cy="0"/>
          <a:chOff x="0" y="0"/>
          <a:chExt cx="0" cy="0"/>
        </a:xfrm>
      </p:grpSpPr>
      <p:sp>
        <p:nvSpPr>
          <p:cNvPr id="2" name="Freeform 2"/>
          <p:cNvSpPr/>
          <p:nvPr/>
        </p:nvSpPr>
        <p:spPr>
          <a:xfrm rot="-877412">
            <a:off x="-1000948" y="6843524"/>
            <a:ext cx="4059295" cy="4326768"/>
          </a:xfrm>
          <a:custGeom>
            <a:avLst/>
            <a:gdLst/>
            <a:ahLst/>
            <a:cxnLst/>
            <a:rect l="l" t="t" r="r" b="b"/>
            <a:pathLst>
              <a:path w="4059295" h="4326768">
                <a:moveTo>
                  <a:pt x="0" y="0"/>
                </a:moveTo>
                <a:lnTo>
                  <a:pt x="4059296" y="0"/>
                </a:lnTo>
                <a:lnTo>
                  <a:pt x="4059296" y="4326769"/>
                </a:lnTo>
                <a:lnTo>
                  <a:pt x="0" y="43267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976979">
            <a:off x="15413455" y="-883192"/>
            <a:ext cx="3691690" cy="3823784"/>
          </a:xfrm>
          <a:custGeom>
            <a:avLst/>
            <a:gdLst/>
            <a:ahLst/>
            <a:cxnLst/>
            <a:rect l="l" t="t" r="r" b="b"/>
            <a:pathLst>
              <a:path w="3691690" h="3823784">
                <a:moveTo>
                  <a:pt x="0" y="0"/>
                </a:moveTo>
                <a:lnTo>
                  <a:pt x="3691690" y="0"/>
                </a:lnTo>
                <a:lnTo>
                  <a:pt x="3691690" y="3823784"/>
                </a:lnTo>
                <a:lnTo>
                  <a:pt x="0" y="38237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384494">
            <a:off x="-295960" y="-194842"/>
            <a:ext cx="3466502" cy="3182879"/>
          </a:xfrm>
          <a:custGeom>
            <a:avLst/>
            <a:gdLst/>
            <a:ahLst/>
            <a:cxnLst/>
            <a:rect l="l" t="t" r="r" b="b"/>
            <a:pathLst>
              <a:path w="3466502" h="3182879">
                <a:moveTo>
                  <a:pt x="0" y="0"/>
                </a:moveTo>
                <a:lnTo>
                  <a:pt x="3466502" y="0"/>
                </a:lnTo>
                <a:lnTo>
                  <a:pt x="3466502" y="3182879"/>
                </a:lnTo>
                <a:lnTo>
                  <a:pt x="0" y="31828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143242">
            <a:off x="15356467" y="7629021"/>
            <a:ext cx="3246709" cy="3258558"/>
          </a:xfrm>
          <a:custGeom>
            <a:avLst/>
            <a:gdLst/>
            <a:ahLst/>
            <a:cxnLst/>
            <a:rect l="l" t="t" r="r" b="b"/>
            <a:pathLst>
              <a:path w="3246709" h="3258558">
                <a:moveTo>
                  <a:pt x="0" y="0"/>
                </a:moveTo>
                <a:lnTo>
                  <a:pt x="3246708" y="0"/>
                </a:lnTo>
                <a:lnTo>
                  <a:pt x="3246708" y="3258558"/>
                </a:lnTo>
                <a:lnTo>
                  <a:pt x="0" y="32585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4699411" y="354553"/>
            <a:ext cx="8889178" cy="3136924"/>
          </a:xfrm>
          <a:prstGeom prst="rect">
            <a:avLst/>
          </a:prstGeom>
        </p:spPr>
        <p:txBody>
          <a:bodyPr lIns="0" tIns="0" rIns="0" bIns="0" rtlCol="0" anchor="t">
            <a:spAutoFit/>
          </a:bodyPr>
          <a:lstStyle/>
          <a:p>
            <a:pPr algn="ctr">
              <a:lnSpc>
                <a:spcPts val="6134"/>
              </a:lnSpc>
            </a:pPr>
            <a:r>
              <a:rPr lang="en-US" sz="6134">
                <a:solidFill>
                  <a:srgbClr val="424848"/>
                </a:solidFill>
                <a:latin typeface="Candal"/>
                <a:ea typeface="Candal"/>
                <a:cs typeface="Candal"/>
                <a:sym typeface="Candal"/>
              </a:rPr>
              <a:t>Future Scope</a:t>
            </a:r>
          </a:p>
          <a:p>
            <a:pPr algn="ctr">
              <a:lnSpc>
                <a:spcPts val="6134"/>
              </a:lnSpc>
            </a:pPr>
            <a:r>
              <a:rPr lang="en-US" sz="6134">
                <a:solidFill>
                  <a:srgbClr val="424848"/>
                </a:solidFill>
                <a:latin typeface="Candal"/>
                <a:ea typeface="Candal"/>
                <a:cs typeface="Candal"/>
                <a:sym typeface="Candal"/>
              </a:rPr>
              <a:t>What Can Be Added Next</a:t>
            </a:r>
          </a:p>
          <a:p>
            <a:pPr algn="ctr">
              <a:lnSpc>
                <a:spcPts val="6134"/>
              </a:lnSpc>
            </a:pPr>
            <a:endParaRPr lang="en-US" sz="6134">
              <a:solidFill>
                <a:srgbClr val="424848"/>
              </a:solidFill>
              <a:latin typeface="Candal"/>
              <a:ea typeface="Candal"/>
              <a:cs typeface="Candal"/>
              <a:sym typeface="Candal"/>
            </a:endParaRPr>
          </a:p>
        </p:txBody>
      </p:sp>
      <p:sp>
        <p:nvSpPr>
          <p:cNvPr id="7" name="TextBox 7"/>
          <p:cNvSpPr txBox="1"/>
          <p:nvPr/>
        </p:nvSpPr>
        <p:spPr>
          <a:xfrm>
            <a:off x="1990712" y="3314770"/>
            <a:ext cx="14306577" cy="4780699"/>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“This project can be improved further with additional features.</a:t>
            </a:r>
          </a:p>
          <a:p>
            <a:pPr algn="ctr">
              <a:lnSpc>
                <a:spcPts val="4759"/>
              </a:lnSpc>
            </a:pPr>
            <a:r>
              <a:rPr lang="en-US" sz="3399">
                <a:solidFill>
                  <a:srgbClr val="000000"/>
                </a:solidFill>
                <a:latin typeface="Canva Sans"/>
                <a:ea typeface="Canva Sans"/>
                <a:cs typeface="Canva Sans"/>
                <a:sym typeface="Canva Sans"/>
              </a:rPr>
              <a:t>We can add Wi-Fi to send data to a cloud dashboard.</a:t>
            </a:r>
          </a:p>
          <a:p>
            <a:pPr algn="ctr">
              <a:lnSpc>
                <a:spcPts val="4759"/>
              </a:lnSpc>
            </a:pPr>
            <a:r>
              <a:rPr lang="en-US" sz="3399">
                <a:solidFill>
                  <a:srgbClr val="000000"/>
                </a:solidFill>
                <a:latin typeface="Canva Sans"/>
                <a:ea typeface="Canva Sans"/>
                <a:cs typeface="Canva Sans"/>
                <a:sym typeface="Canva Sans"/>
              </a:rPr>
              <a:t>A camera with OCR can capture vehicle number plates automatically.</a:t>
            </a:r>
          </a:p>
          <a:p>
            <a:pPr algn="ctr">
              <a:lnSpc>
                <a:spcPts val="4759"/>
              </a:lnSpc>
            </a:pPr>
            <a:r>
              <a:rPr lang="en-US" sz="3399">
                <a:solidFill>
                  <a:srgbClr val="000000"/>
                </a:solidFill>
                <a:latin typeface="Canva Sans"/>
                <a:ea typeface="Canva Sans"/>
                <a:cs typeface="Canva Sans"/>
                <a:sym typeface="Canva Sans"/>
              </a:rPr>
              <a:t>A GPS module can help map pollution hotspots in cities.</a:t>
            </a:r>
          </a:p>
          <a:p>
            <a:pPr algn="ctr">
              <a:lnSpc>
                <a:spcPts val="4759"/>
              </a:lnSpc>
            </a:pPr>
            <a:r>
              <a:rPr lang="en-US" sz="3399">
                <a:solidFill>
                  <a:srgbClr val="000000"/>
                </a:solidFill>
                <a:latin typeface="Canva Sans"/>
                <a:ea typeface="Canva Sans"/>
                <a:cs typeface="Canva Sans"/>
                <a:sym typeface="Canva Sans"/>
              </a:rPr>
              <a:t>We can add buzzers and LEDs for better alerts.</a:t>
            </a:r>
          </a:p>
          <a:p>
            <a:pPr algn="ctr">
              <a:lnSpc>
                <a:spcPts val="4759"/>
              </a:lnSpc>
            </a:pPr>
            <a:r>
              <a:rPr lang="en-US" sz="3399">
                <a:solidFill>
                  <a:srgbClr val="000000"/>
                </a:solidFill>
                <a:latin typeface="Canva Sans"/>
                <a:ea typeface="Canva Sans"/>
                <a:cs typeface="Canva Sans"/>
                <a:sym typeface="Canva Sans"/>
              </a:rPr>
              <a:t>A mobile app can also be developed using Bluetooth connectivity.</a:t>
            </a:r>
          </a:p>
          <a:p>
            <a:pPr algn="ctr">
              <a:lnSpc>
                <a:spcPts val="4759"/>
              </a:lnSpc>
            </a:pPr>
            <a:r>
              <a:rPr lang="en-US" sz="3399">
                <a:solidFill>
                  <a:srgbClr val="000000"/>
                </a:solidFill>
                <a:latin typeface="Canva Sans"/>
                <a:ea typeface="Canva Sans"/>
                <a:cs typeface="Canva Sans"/>
                <a:sym typeface="Canva Sans"/>
              </a:rPr>
              <a:t>These improvements can make the system smarter and more useful.”</a:t>
            </a:r>
          </a:p>
          <a:p>
            <a:pPr algn="ctr">
              <a:lnSpc>
                <a:spcPts val="4759"/>
              </a:lnSpc>
            </a:pPr>
            <a:endParaRPr lang="en-US" sz="3399">
              <a:solidFill>
                <a:srgbClr val="000000"/>
              </a:solidFill>
              <a:latin typeface="Canva Sans"/>
              <a:ea typeface="Canva Sans"/>
              <a:cs typeface="Canva Sans"/>
              <a:sym typeface="Canv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DEFEE"/>
        </a:solidFill>
        <a:effectLst/>
      </p:bgPr>
    </p:bg>
    <p:spTree>
      <p:nvGrpSpPr>
        <p:cNvPr id="1" name=""/>
        <p:cNvGrpSpPr/>
        <p:nvPr/>
      </p:nvGrpSpPr>
      <p:grpSpPr>
        <a:xfrm>
          <a:off x="0" y="0"/>
          <a:ext cx="0" cy="0"/>
          <a:chOff x="0" y="0"/>
          <a:chExt cx="0" cy="0"/>
        </a:xfrm>
      </p:grpSpPr>
      <p:sp>
        <p:nvSpPr>
          <p:cNvPr id="2" name="Freeform 2"/>
          <p:cNvSpPr/>
          <p:nvPr/>
        </p:nvSpPr>
        <p:spPr>
          <a:xfrm rot="-877412">
            <a:off x="-1000948" y="6843524"/>
            <a:ext cx="4059295" cy="4326768"/>
          </a:xfrm>
          <a:custGeom>
            <a:avLst/>
            <a:gdLst/>
            <a:ahLst/>
            <a:cxnLst/>
            <a:rect l="l" t="t" r="r" b="b"/>
            <a:pathLst>
              <a:path w="4059295" h="4326768">
                <a:moveTo>
                  <a:pt x="0" y="0"/>
                </a:moveTo>
                <a:lnTo>
                  <a:pt x="4059296" y="0"/>
                </a:lnTo>
                <a:lnTo>
                  <a:pt x="4059296" y="4326769"/>
                </a:lnTo>
                <a:lnTo>
                  <a:pt x="0" y="43267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976979">
            <a:off x="15413455" y="-883192"/>
            <a:ext cx="3691690" cy="3823784"/>
          </a:xfrm>
          <a:custGeom>
            <a:avLst/>
            <a:gdLst/>
            <a:ahLst/>
            <a:cxnLst/>
            <a:rect l="l" t="t" r="r" b="b"/>
            <a:pathLst>
              <a:path w="3691690" h="3823784">
                <a:moveTo>
                  <a:pt x="0" y="0"/>
                </a:moveTo>
                <a:lnTo>
                  <a:pt x="3691690" y="0"/>
                </a:lnTo>
                <a:lnTo>
                  <a:pt x="3691690" y="3823784"/>
                </a:lnTo>
                <a:lnTo>
                  <a:pt x="0" y="38237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384494">
            <a:off x="-295960" y="-194842"/>
            <a:ext cx="3466502" cy="3182879"/>
          </a:xfrm>
          <a:custGeom>
            <a:avLst/>
            <a:gdLst/>
            <a:ahLst/>
            <a:cxnLst/>
            <a:rect l="l" t="t" r="r" b="b"/>
            <a:pathLst>
              <a:path w="3466502" h="3182879">
                <a:moveTo>
                  <a:pt x="0" y="0"/>
                </a:moveTo>
                <a:lnTo>
                  <a:pt x="3466502" y="0"/>
                </a:lnTo>
                <a:lnTo>
                  <a:pt x="3466502" y="3182879"/>
                </a:lnTo>
                <a:lnTo>
                  <a:pt x="0" y="31828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143242">
            <a:off x="15356467" y="7629021"/>
            <a:ext cx="3246709" cy="3258558"/>
          </a:xfrm>
          <a:custGeom>
            <a:avLst/>
            <a:gdLst/>
            <a:ahLst/>
            <a:cxnLst/>
            <a:rect l="l" t="t" r="r" b="b"/>
            <a:pathLst>
              <a:path w="3246709" h="3258558">
                <a:moveTo>
                  <a:pt x="0" y="0"/>
                </a:moveTo>
                <a:lnTo>
                  <a:pt x="3246708" y="0"/>
                </a:lnTo>
                <a:lnTo>
                  <a:pt x="3246708" y="3258558"/>
                </a:lnTo>
                <a:lnTo>
                  <a:pt x="0" y="32585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4699411" y="421228"/>
            <a:ext cx="8889178" cy="1234641"/>
          </a:xfrm>
          <a:prstGeom prst="rect">
            <a:avLst/>
          </a:prstGeom>
        </p:spPr>
        <p:txBody>
          <a:bodyPr lIns="0" tIns="0" rIns="0" bIns="0" rtlCol="0" anchor="t">
            <a:spAutoFit/>
          </a:bodyPr>
          <a:lstStyle/>
          <a:p>
            <a:pPr algn="ctr">
              <a:lnSpc>
                <a:spcPts val="9234"/>
              </a:lnSpc>
            </a:pPr>
            <a:r>
              <a:rPr lang="en-US" sz="9234">
                <a:solidFill>
                  <a:srgbClr val="424848"/>
                </a:solidFill>
                <a:latin typeface="Candal"/>
                <a:ea typeface="Candal"/>
                <a:cs typeface="Candal"/>
                <a:sym typeface="Candal"/>
              </a:rPr>
              <a:t>Conclusion</a:t>
            </a:r>
          </a:p>
        </p:txBody>
      </p:sp>
      <p:sp>
        <p:nvSpPr>
          <p:cNvPr id="7" name="TextBox 7"/>
          <p:cNvSpPr txBox="1"/>
          <p:nvPr/>
        </p:nvSpPr>
        <p:spPr>
          <a:xfrm>
            <a:off x="0" y="3305245"/>
            <a:ext cx="18288000" cy="5463757"/>
          </a:xfrm>
          <a:prstGeom prst="rect">
            <a:avLst/>
          </a:prstGeom>
        </p:spPr>
        <p:txBody>
          <a:bodyPr lIns="0" tIns="0" rIns="0" bIns="0" rtlCol="0" anchor="t">
            <a:spAutoFit/>
          </a:bodyPr>
          <a:lstStyle/>
          <a:p>
            <a:pPr algn="ctr">
              <a:lnSpc>
                <a:spcPts val="5459"/>
              </a:lnSpc>
            </a:pPr>
            <a:r>
              <a:rPr lang="en-US" sz="3899">
                <a:solidFill>
                  <a:srgbClr val="000000"/>
                </a:solidFill>
                <a:latin typeface="Canva Sans"/>
                <a:ea typeface="Canva Sans"/>
                <a:cs typeface="Canva Sans"/>
                <a:sym typeface="Canva Sans"/>
              </a:rPr>
              <a:t>“To conclude, this project successfully demonstrates a real-time vehicle emission monitoring system.</a:t>
            </a:r>
          </a:p>
          <a:p>
            <a:pPr algn="ctr">
              <a:lnSpc>
                <a:spcPts val="5459"/>
              </a:lnSpc>
            </a:pPr>
            <a:r>
              <a:rPr lang="en-US" sz="3899">
                <a:solidFill>
                  <a:srgbClr val="000000"/>
                </a:solidFill>
                <a:latin typeface="Canva Sans"/>
                <a:ea typeface="Canva Sans"/>
                <a:cs typeface="Canva Sans"/>
                <a:sym typeface="Canva Sans"/>
              </a:rPr>
              <a:t>It detects pollution levels, peak values, and sudden spikes efficiently.</a:t>
            </a:r>
          </a:p>
          <a:p>
            <a:pPr algn="ctr">
              <a:lnSpc>
                <a:spcPts val="5459"/>
              </a:lnSpc>
            </a:pPr>
            <a:r>
              <a:rPr lang="en-US" sz="3899">
                <a:solidFill>
                  <a:srgbClr val="000000"/>
                </a:solidFill>
                <a:latin typeface="Canva Sans"/>
                <a:ea typeface="Canva Sans"/>
                <a:cs typeface="Canva Sans"/>
                <a:sym typeface="Canva Sans"/>
              </a:rPr>
              <a:t>It is low-cost, portable, and easy to use.</a:t>
            </a:r>
          </a:p>
          <a:p>
            <a:pPr algn="ctr">
              <a:lnSpc>
                <a:spcPts val="5459"/>
              </a:lnSpc>
            </a:pPr>
            <a:r>
              <a:rPr lang="en-US" sz="3899">
                <a:solidFill>
                  <a:srgbClr val="000000"/>
                </a:solidFill>
                <a:latin typeface="Canva Sans"/>
                <a:ea typeface="Canva Sans"/>
                <a:cs typeface="Canva Sans"/>
                <a:sym typeface="Canva Sans"/>
              </a:rPr>
              <a:t>With further development, it can be scaled for smart city applications and environmental monitoring systems.</a:t>
            </a:r>
          </a:p>
          <a:p>
            <a:pPr algn="ctr">
              <a:lnSpc>
                <a:spcPts val="5459"/>
              </a:lnSpc>
            </a:pPr>
            <a:endParaRPr lang="en-US" sz="3899">
              <a:solidFill>
                <a:srgbClr val="000000"/>
              </a:solidFill>
              <a:latin typeface="Canva Sans"/>
              <a:ea typeface="Canva Sans"/>
              <a:cs typeface="Canva Sans"/>
              <a:sym typeface="Canva Sans"/>
            </a:endParaRPr>
          </a:p>
          <a:p>
            <a:pPr algn="ctr">
              <a:lnSpc>
                <a:spcPts val="5459"/>
              </a:lnSpc>
            </a:pPr>
            <a:endParaRPr lang="en-US" sz="3899">
              <a:solidFill>
                <a:srgbClr val="000000"/>
              </a:solidFill>
              <a:latin typeface="Canva Sans"/>
              <a:ea typeface="Canva Sans"/>
              <a:cs typeface="Canva Sans"/>
              <a:sym typeface="Canva Sa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1097</Words>
  <Application>Microsoft Office PowerPoint</Application>
  <PresentationFormat>Custom</PresentationFormat>
  <Paragraphs>112</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Proxima Nova Bold Italics</vt:lpstr>
      <vt:lpstr>Proxima Nova</vt:lpstr>
      <vt:lpstr>Candal</vt:lpstr>
      <vt:lpstr>Canva Sans Bold</vt:lpstr>
      <vt:lpstr>Canva Sans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Era</dc:title>
  <cp:lastModifiedBy>vatsal makwana</cp:lastModifiedBy>
  <cp:revision>1</cp:revision>
  <dcterms:created xsi:type="dcterms:W3CDTF">2006-08-16T00:00:00Z</dcterms:created>
  <dcterms:modified xsi:type="dcterms:W3CDTF">2026-03-25T08:12:47Z</dcterms:modified>
  <dc:identifier>DAHE3pZR4Ns</dc:identifier>
</cp:coreProperties>
</file>